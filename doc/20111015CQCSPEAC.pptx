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80" r:id="rId1"/>
  </p:sldMasterIdLst>
  <p:notesMasterIdLst>
    <p:notesMasterId r:id="rId18"/>
  </p:notesMasterIdLst>
  <p:handoutMasterIdLst>
    <p:handoutMasterId r:id="rId19"/>
  </p:handoutMasterIdLst>
  <p:sldIdLst>
    <p:sldId id="1253" r:id="rId2"/>
    <p:sldId id="1254" r:id="rId3"/>
    <p:sldId id="1261" r:id="rId4"/>
    <p:sldId id="1263" r:id="rId5"/>
    <p:sldId id="1242" r:id="rId6"/>
    <p:sldId id="1244" r:id="rId7"/>
    <p:sldId id="1243" r:id="rId8"/>
    <p:sldId id="1247" r:id="rId9"/>
    <p:sldId id="1246" r:id="rId10"/>
    <p:sldId id="1250" r:id="rId11"/>
    <p:sldId id="1249" r:id="rId12"/>
    <p:sldId id="1245" r:id="rId13"/>
    <p:sldId id="1266" r:id="rId14"/>
    <p:sldId id="1265" r:id="rId15"/>
    <p:sldId id="1267" r:id="rId16"/>
    <p:sldId id="1252" r:id="rId17"/>
  </p:sldIdLst>
  <p:sldSz cx="9144000" cy="6858000" type="screen4x3"/>
  <p:notesSz cx="6718300" cy="98552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4800" kern="1200">
        <a:solidFill>
          <a:srgbClr val="EAEAEA"/>
        </a:solidFill>
        <a:latin typeface="HGPｺﾞｼｯｸE" charset="0"/>
        <a:ea typeface="HGPｺﾞｼｯｸE" charset="0"/>
        <a:cs typeface="HGPｺﾞｼｯｸE" charset="0"/>
      </a:defRPr>
    </a:lvl1pPr>
    <a:lvl2pPr marL="457200" algn="l" rtl="0" fontAlgn="base">
      <a:spcBef>
        <a:spcPct val="0"/>
      </a:spcBef>
      <a:spcAft>
        <a:spcPct val="0"/>
      </a:spcAft>
      <a:defRPr kumimoji="1" sz="4800" kern="1200">
        <a:solidFill>
          <a:srgbClr val="EAEAEA"/>
        </a:solidFill>
        <a:latin typeface="HGPｺﾞｼｯｸE" charset="0"/>
        <a:ea typeface="HGPｺﾞｼｯｸE" charset="0"/>
        <a:cs typeface="HGPｺﾞｼｯｸE" charset="0"/>
      </a:defRPr>
    </a:lvl2pPr>
    <a:lvl3pPr marL="914400" algn="l" rtl="0" fontAlgn="base">
      <a:spcBef>
        <a:spcPct val="0"/>
      </a:spcBef>
      <a:spcAft>
        <a:spcPct val="0"/>
      </a:spcAft>
      <a:defRPr kumimoji="1" sz="4800" kern="1200">
        <a:solidFill>
          <a:srgbClr val="EAEAEA"/>
        </a:solidFill>
        <a:latin typeface="HGPｺﾞｼｯｸE" charset="0"/>
        <a:ea typeface="HGPｺﾞｼｯｸE" charset="0"/>
        <a:cs typeface="HGPｺﾞｼｯｸE" charset="0"/>
      </a:defRPr>
    </a:lvl3pPr>
    <a:lvl4pPr marL="1371600" algn="l" rtl="0" fontAlgn="base">
      <a:spcBef>
        <a:spcPct val="0"/>
      </a:spcBef>
      <a:spcAft>
        <a:spcPct val="0"/>
      </a:spcAft>
      <a:defRPr kumimoji="1" sz="4800" kern="1200">
        <a:solidFill>
          <a:srgbClr val="EAEAEA"/>
        </a:solidFill>
        <a:latin typeface="HGPｺﾞｼｯｸE" charset="0"/>
        <a:ea typeface="HGPｺﾞｼｯｸE" charset="0"/>
        <a:cs typeface="HGPｺﾞｼｯｸE" charset="0"/>
      </a:defRPr>
    </a:lvl4pPr>
    <a:lvl5pPr marL="1828800" algn="l" rtl="0" fontAlgn="base">
      <a:spcBef>
        <a:spcPct val="0"/>
      </a:spcBef>
      <a:spcAft>
        <a:spcPct val="0"/>
      </a:spcAft>
      <a:defRPr kumimoji="1" sz="4800" kern="1200">
        <a:solidFill>
          <a:srgbClr val="EAEAEA"/>
        </a:solidFill>
        <a:latin typeface="HGPｺﾞｼｯｸE" charset="0"/>
        <a:ea typeface="HGPｺﾞｼｯｸE" charset="0"/>
        <a:cs typeface="HGPｺﾞｼｯｸE" charset="0"/>
      </a:defRPr>
    </a:lvl5pPr>
    <a:lvl6pPr marL="2286000" algn="l" defTabSz="457200" rtl="0" eaLnBrk="1" latinLnBrk="0" hangingPunct="1">
      <a:defRPr kumimoji="1" sz="4800" kern="1200">
        <a:solidFill>
          <a:srgbClr val="EAEAEA"/>
        </a:solidFill>
        <a:latin typeface="HGPｺﾞｼｯｸE" charset="0"/>
        <a:ea typeface="HGPｺﾞｼｯｸE" charset="0"/>
        <a:cs typeface="HGPｺﾞｼｯｸE" charset="0"/>
      </a:defRPr>
    </a:lvl6pPr>
    <a:lvl7pPr marL="2743200" algn="l" defTabSz="457200" rtl="0" eaLnBrk="1" latinLnBrk="0" hangingPunct="1">
      <a:defRPr kumimoji="1" sz="4800" kern="1200">
        <a:solidFill>
          <a:srgbClr val="EAEAEA"/>
        </a:solidFill>
        <a:latin typeface="HGPｺﾞｼｯｸE" charset="0"/>
        <a:ea typeface="HGPｺﾞｼｯｸE" charset="0"/>
        <a:cs typeface="HGPｺﾞｼｯｸE" charset="0"/>
      </a:defRPr>
    </a:lvl7pPr>
    <a:lvl8pPr marL="3200400" algn="l" defTabSz="457200" rtl="0" eaLnBrk="1" latinLnBrk="0" hangingPunct="1">
      <a:defRPr kumimoji="1" sz="4800" kern="1200">
        <a:solidFill>
          <a:srgbClr val="EAEAEA"/>
        </a:solidFill>
        <a:latin typeface="HGPｺﾞｼｯｸE" charset="0"/>
        <a:ea typeface="HGPｺﾞｼｯｸE" charset="0"/>
        <a:cs typeface="HGPｺﾞｼｯｸE" charset="0"/>
      </a:defRPr>
    </a:lvl8pPr>
    <a:lvl9pPr marL="3657600" algn="l" defTabSz="457200" rtl="0" eaLnBrk="1" latinLnBrk="0" hangingPunct="1">
      <a:defRPr kumimoji="1" sz="4800" kern="1200">
        <a:solidFill>
          <a:srgbClr val="EAEAEA"/>
        </a:solidFill>
        <a:latin typeface="HGPｺﾞｼｯｸE" charset="0"/>
        <a:ea typeface="HGPｺﾞｼｯｸE" charset="0"/>
        <a:cs typeface="HGPｺﾞｼｯｸE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80"/>
    <a:srgbClr val="292929"/>
    <a:srgbClr val="A50021"/>
    <a:srgbClr val="0099CC"/>
    <a:srgbClr val="EAEAEA"/>
    <a:srgbClr val="C0C0C0"/>
    <a:srgbClr val="FFCCFF"/>
    <a:srgbClr val="FFCC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/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38" autoAdjust="0"/>
    <p:restoredTop sz="96839" autoAdjust="0"/>
  </p:normalViewPr>
  <p:slideViewPr>
    <p:cSldViewPr>
      <p:cViewPr varScale="1">
        <p:scale>
          <a:sx n="108" d="100"/>
          <a:sy n="108" d="100"/>
        </p:scale>
        <p:origin x="-600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interSettings" Target="printerSettings/printerSettings1.bin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147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63" tIns="45232" rIns="90463" bIns="45232" numCol="1" anchor="t" anchorCtr="0" compatLnSpc="1">
            <a:prstTxWarp prst="textNoShape">
              <a:avLst/>
            </a:prstTxWarp>
          </a:bodyPr>
          <a:lstStyle>
            <a:lvl1pPr defTabSz="904875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05238" y="0"/>
            <a:ext cx="291147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63" tIns="45232" rIns="90463" bIns="45232" numCol="1" anchor="t" anchorCtr="0" compatLnSpc="1">
            <a:prstTxWarp prst="textNoShape">
              <a:avLst/>
            </a:prstTxWarp>
          </a:bodyPr>
          <a:lstStyle>
            <a:lvl1pPr algn="r" defTabSz="904875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59900"/>
            <a:ext cx="291147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63" tIns="45232" rIns="90463" bIns="45232" numCol="1" anchor="b" anchorCtr="0" compatLnSpc="1">
            <a:prstTxWarp prst="textNoShape">
              <a:avLst/>
            </a:prstTxWarp>
          </a:bodyPr>
          <a:lstStyle>
            <a:lvl1pPr defTabSz="904875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08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05238" y="9359900"/>
            <a:ext cx="291147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63" tIns="45232" rIns="90463" bIns="45232" numCol="1" anchor="b" anchorCtr="0" compatLnSpc="1">
            <a:prstTxWarp prst="textNoShape">
              <a:avLst/>
            </a:prstTxWarp>
          </a:bodyPr>
          <a:lstStyle>
            <a:lvl1pPr algn="r" defTabSz="904875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CAED3FB6-CF32-F741-A234-06B2E025789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64105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98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4660" tIns="47332" rIns="94660" bIns="47332" numCol="1" anchor="t" anchorCtr="0" compatLnSpc="1">
            <a:prstTxWarp prst="textNoShape">
              <a:avLst/>
            </a:prstTxWarp>
          </a:bodyPr>
          <a:lstStyle>
            <a:lvl1pPr defTabSz="947738">
              <a:defRPr sz="13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6825" y="0"/>
            <a:ext cx="29098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4660" tIns="47332" rIns="94660" bIns="47332" numCol="1" anchor="t" anchorCtr="0" compatLnSpc="1">
            <a:prstTxWarp prst="textNoShape">
              <a:avLst/>
            </a:prstTxWarp>
          </a:bodyPr>
          <a:lstStyle>
            <a:lvl1pPr algn="r" defTabSz="947738">
              <a:defRPr sz="13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5350" y="739775"/>
            <a:ext cx="492760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1538"/>
            <a:ext cx="5372100" cy="443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4660" tIns="47332" rIns="94660" bIns="473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</a:t>
            </a:r>
            <a:r>
              <a:rPr lang="en-US" altLang="ja-JP"/>
              <a:t> </a:t>
            </a:r>
            <a:r>
              <a:rPr lang="ja-JP" altLang="en-US"/>
              <a:t>テキストの書式設定</a:t>
            </a:r>
            <a:endParaRPr lang="en-US" altLang="ja-JP"/>
          </a:p>
          <a:p>
            <a:pPr lvl="1"/>
            <a:r>
              <a:rPr lang="ja-JP" altLang="en-US"/>
              <a:t>第</a:t>
            </a:r>
            <a:r>
              <a:rPr lang="en-US" altLang="ja-JP"/>
              <a:t> 2 </a:t>
            </a:r>
            <a:r>
              <a:rPr lang="ja-JP" altLang="en-US"/>
              <a:t>レベル</a:t>
            </a:r>
            <a:endParaRPr lang="en-US" altLang="ja-JP"/>
          </a:p>
          <a:p>
            <a:pPr lvl="2"/>
            <a:r>
              <a:rPr lang="ja-JP" altLang="en-US"/>
              <a:t>第</a:t>
            </a:r>
            <a:r>
              <a:rPr lang="en-US" altLang="ja-JP"/>
              <a:t> 3 </a:t>
            </a:r>
            <a:r>
              <a:rPr lang="ja-JP" altLang="en-US"/>
              <a:t>レベル</a:t>
            </a:r>
            <a:endParaRPr lang="en-US" altLang="ja-JP"/>
          </a:p>
          <a:p>
            <a:pPr lvl="3"/>
            <a:r>
              <a:rPr lang="ja-JP" altLang="en-US"/>
              <a:t>第</a:t>
            </a:r>
            <a:r>
              <a:rPr lang="en-US" altLang="ja-JP"/>
              <a:t> 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</a:t>
            </a:r>
            <a:r>
              <a:rPr lang="en-US" altLang="ja-JP"/>
              <a:t> 5 </a:t>
            </a:r>
            <a:r>
              <a:rPr lang="ja-JP" altLang="en-US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58313"/>
            <a:ext cx="29098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4660" tIns="47332" rIns="94660" bIns="47332" numCol="1" anchor="b" anchorCtr="0" compatLnSpc="1">
            <a:prstTxWarp prst="textNoShape">
              <a:avLst/>
            </a:prstTxWarp>
          </a:bodyPr>
          <a:lstStyle>
            <a:lvl1pPr defTabSz="947738">
              <a:defRPr sz="13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6825" y="9358313"/>
            <a:ext cx="29098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4660" tIns="47332" rIns="94660" bIns="47332" numCol="1" anchor="b" anchorCtr="0" compatLnSpc="1">
            <a:prstTxWarp prst="textNoShape">
              <a:avLst/>
            </a:prstTxWarp>
          </a:bodyPr>
          <a:lstStyle>
            <a:lvl1pPr algn="r" defTabSz="947738">
              <a:defRPr sz="13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5DC9B379-2FEF-4B41-9800-8A4AEE6AAA2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865925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0"/>
        <a:cs typeface="ＭＳ Ｐ明朝" charset="0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0"/>
        <a:cs typeface="ＭＳ Ｐ明朝" charset="0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0"/>
        <a:cs typeface="ＭＳ Ｐ明朝" charset="0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0"/>
        <a:cs typeface="ＭＳ Ｐ明朝" charset="0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0"/>
        <a:cs typeface="ＭＳ Ｐ明朝" charset="0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5F25D-29CC-1241-BAE9-757ED6F36607}" type="datetimeFigureOut">
              <a:rPr lang="en-US"/>
              <a:pPr>
                <a:defRPr/>
              </a:pPr>
              <a:t>11/10/16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B204B-7F07-C14B-8F0C-CADBE946330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40886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D0315-68D4-FA47-9809-8FA64DB2CE72}" type="datetimeFigureOut">
              <a:rPr lang="en-US"/>
              <a:pPr>
                <a:defRPr/>
              </a:pPr>
              <a:t>11/10/16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7D00E0-AB3C-9646-AE9D-B99C2EBAE40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87462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EC9F5A-4B12-404F-AFD5-AC25BF548A8F}" type="datetimeFigureOut">
              <a:rPr lang="en-US"/>
              <a:pPr>
                <a:defRPr/>
              </a:pPr>
              <a:t>11/10/16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6201A-84A7-AB46-8C9C-075FD75D3D4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0054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869DE-AA23-A742-A2D7-176C033E9B11}" type="datetimeFigureOut">
              <a:rPr lang="en-US"/>
              <a:pPr>
                <a:defRPr/>
              </a:pPr>
              <a:t>11/10/16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E9AE0-4B0B-4844-A51F-538356F969E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9513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6C438-2838-554B-9FF6-2EFF8D2E9B88}" type="datetimeFigureOut">
              <a:rPr lang="en-US"/>
              <a:pPr>
                <a:defRPr/>
              </a:pPr>
              <a:t>11/10/16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557FA-0CDA-2F41-99EA-DE8D974712B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903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5D1BB-654E-2648-95B3-94D22295ABE3}" type="datetimeFigureOut">
              <a:rPr lang="en-US"/>
              <a:pPr>
                <a:defRPr/>
              </a:pPr>
              <a:t>11/10/16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2AE87-6F26-1041-A64E-C3748A9264D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95307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138C8-236C-534B-BEB4-30D526D08C37}" type="datetimeFigureOut">
              <a:rPr lang="en-US"/>
              <a:pPr>
                <a:defRPr/>
              </a:pPr>
              <a:t>11/10/16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646DB0-816C-7249-95A2-AE7D8C8A7F5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3180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5301FB-A8A5-C74C-BCB4-7A6B3FDD6477}" type="datetimeFigureOut">
              <a:rPr lang="en-US"/>
              <a:pPr>
                <a:defRPr/>
              </a:pPr>
              <a:t>11/10/16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074B0-DE06-E34A-9AD1-9E2804FF14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223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 smtClean="0"/>
              <a:t>プレースホルダーまでドラッグするかアイコンをクリックして図を追加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A0693-F75E-7641-9802-6F3ECB804DC0}" type="datetimeFigureOut">
              <a:rPr lang="en-US"/>
              <a:pPr>
                <a:defRPr/>
              </a:pPr>
              <a:t>11/10/16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73CDE2-5366-5A45-B7BE-27CDAC679CC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3190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C849E-AC18-C84C-88E0-412DA6449061}" type="datetimeFigureOut">
              <a:rPr lang="en-US"/>
              <a:pPr>
                <a:defRPr/>
              </a:pPr>
              <a:t>11/10/16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DD50E-F7C9-4744-B998-F3204A5D184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2264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4CA37-10DB-A64E-92A2-961E4088E424}" type="datetimeFigureOut">
              <a:rPr lang="en-US"/>
              <a:pPr>
                <a:defRPr/>
              </a:pPr>
              <a:t>11/10/16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E0391-6247-6844-A9B0-56A5E587744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2077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0">
              <a:schemeClr val="bg1">
                <a:lumMod val="75000"/>
                <a:lumOff val="25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altLang="ja-JP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6D466BB-2CAB-CC4B-B4D6-F89253B7288D}" type="datetimeFigureOut">
              <a:rPr lang="en-US"/>
              <a:pPr>
                <a:defRPr/>
              </a:pPr>
              <a:t>11/10/16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5A3135-4927-7745-99A2-33A489F141F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7160" y="44624"/>
            <a:ext cx="9083352" cy="1143000"/>
          </a:xfrm>
        </p:spPr>
        <p:txBody>
          <a:bodyPr/>
          <a:lstStyle/>
          <a:p>
            <a:r>
              <a:rPr kumimoji="1" lang="ja-JP" altLang="en-US" sz="4800" dirty="0" smtClean="0"/>
              <a:t>いろいろ通知</a:t>
            </a:r>
            <a:r>
              <a:rPr kumimoji="1" lang="ja-JP" altLang="en-US" sz="4800" dirty="0" smtClean="0"/>
              <a:t>サービス</a:t>
            </a:r>
            <a:r>
              <a:rPr kumimoji="1" lang="en-US" altLang="ja-JP" sz="4800" dirty="0" smtClean="0"/>
              <a:t> @</a:t>
            </a:r>
            <a:r>
              <a:rPr kumimoji="1" lang="en-US" altLang="ja-JP" sz="4800" dirty="0" err="1" smtClean="0"/>
              <a:t>tejima</a:t>
            </a:r>
            <a:r>
              <a:rPr kumimoji="1" lang="ja-JP" altLang="en-US" sz="4800" dirty="0" smtClean="0"/>
              <a:t>　</a:t>
            </a:r>
            <a:endParaRPr kumimoji="1" lang="ja-JP" altLang="en-US" sz="4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7D00E0-AB3C-9646-AE9D-B99C2EBAE40C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284308"/>
            <a:ext cx="6264696" cy="5588346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/>
          <a:srcRect l="10013" t="27450" r="12534" b="24719"/>
          <a:stretch/>
        </p:blipFill>
        <p:spPr>
          <a:xfrm>
            <a:off x="1451189" y="2766250"/>
            <a:ext cx="6012890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54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サービスの目的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11560" y="1412776"/>
            <a:ext cx="8229600" cy="752947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i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OpenPNE</a:t>
            </a:r>
            <a:r>
              <a:rPr kumimoji="1"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のアクションをいろいろなデバイスに通知したい</a:t>
            </a:r>
            <a:endParaRPr kumimoji="1" lang="ja-JP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7D00E0-AB3C-9646-AE9D-B99C2EBAE40C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/>
          <a:srcRect l="7520" t="27450" r="9688" b="24719"/>
          <a:stretch/>
        </p:blipFill>
        <p:spPr>
          <a:xfrm>
            <a:off x="1187624" y="2780928"/>
            <a:ext cx="7125950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8686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利用イメージ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11560" y="1412776"/>
            <a:ext cx="8229600" cy="752947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@</a:t>
            </a:r>
            <a:r>
              <a:rPr kumimoji="1"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を増せばどんどん強烈なつぶやきになる</a:t>
            </a:r>
            <a:endParaRPr kumimoji="1" lang="ja-JP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7D00E0-AB3C-9646-AE9D-B99C2EBAE40C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  <p:pic>
        <p:nvPicPr>
          <p:cNvPr id="6" name="図 5" descr="201110161206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14"/>
          <a:stretch/>
        </p:blipFill>
        <p:spPr>
          <a:xfrm>
            <a:off x="755576" y="2152582"/>
            <a:ext cx="7632848" cy="4588786"/>
          </a:xfrm>
          <a:prstGeom prst="rect">
            <a:avLst/>
          </a:prstGeom>
        </p:spPr>
      </p:pic>
      <p:sp>
        <p:nvSpPr>
          <p:cNvPr id="7" name="角丸四角形 6"/>
          <p:cNvSpPr/>
          <p:nvPr/>
        </p:nvSpPr>
        <p:spPr>
          <a:xfrm>
            <a:off x="3419872" y="2132856"/>
            <a:ext cx="2448272" cy="864096"/>
          </a:xfrm>
          <a:prstGeom prst="roundRect">
            <a:avLst/>
          </a:prstGeom>
          <a:noFill/>
          <a:ln w="57150" cmpd="sng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3275856" y="3645024"/>
            <a:ext cx="2016224" cy="864096"/>
          </a:xfrm>
          <a:prstGeom prst="roundRect">
            <a:avLst/>
          </a:prstGeom>
          <a:noFill/>
          <a:ln w="57150" cmpd="sng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/>
          <p:cNvSpPr/>
          <p:nvPr/>
        </p:nvSpPr>
        <p:spPr>
          <a:xfrm>
            <a:off x="2843808" y="5301208"/>
            <a:ext cx="2016224" cy="864096"/>
          </a:xfrm>
          <a:prstGeom prst="roundRect">
            <a:avLst/>
          </a:prstGeom>
          <a:noFill/>
          <a:ln w="57150" cmpd="sng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1505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設定画面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7D00E0-AB3C-9646-AE9D-B99C2EBAE40C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 rotWithShape="1">
          <a:blip r:embed="rId2"/>
          <a:srcRect l="19336" t="27722" r="22517" b="10798"/>
          <a:stretch/>
        </p:blipFill>
        <p:spPr>
          <a:xfrm>
            <a:off x="1691680" y="1288356"/>
            <a:ext cx="5760640" cy="5508152"/>
          </a:xfrm>
          <a:prstGeom prst="rect">
            <a:avLst/>
          </a:prstGeom>
        </p:spPr>
      </p:pic>
      <p:sp>
        <p:nvSpPr>
          <p:cNvPr id="5" name="角丸四角形 4"/>
          <p:cNvSpPr/>
          <p:nvPr/>
        </p:nvSpPr>
        <p:spPr>
          <a:xfrm>
            <a:off x="2627784" y="5301208"/>
            <a:ext cx="3816424" cy="1440160"/>
          </a:xfrm>
          <a:prstGeom prst="roundRect">
            <a:avLst/>
          </a:prstGeom>
          <a:noFill/>
          <a:ln w="57150" cmpd="sng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9175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/>
        </p:nvSpPr>
        <p:spPr>
          <a:xfrm>
            <a:off x="3563888" y="116632"/>
            <a:ext cx="2664296" cy="662473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3779912" y="188640"/>
            <a:ext cx="2245946" cy="15121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 err="1" smtClean="0">
                <a:solidFill>
                  <a:schemeClr val="tx2"/>
                </a:solidFill>
              </a:rPr>
              <a:t>api.cqc.jp</a:t>
            </a:r>
            <a:endParaRPr kumimoji="1" lang="en-US" altLang="ja-JP" sz="3200" dirty="0" smtClean="0">
              <a:solidFill>
                <a:schemeClr val="tx2"/>
              </a:solidFill>
            </a:endParaRPr>
          </a:p>
          <a:p>
            <a:pPr algn="ctr"/>
            <a:endParaRPr lang="en-US" altLang="ja-JP" sz="1800" dirty="0">
              <a:solidFill>
                <a:schemeClr val="tx2"/>
              </a:solidFill>
            </a:endParaRPr>
          </a:p>
          <a:p>
            <a:pPr algn="ctr"/>
            <a:endParaRPr kumimoji="1" lang="en-US" altLang="ja-JP" sz="1800" dirty="0" smtClean="0">
              <a:solidFill>
                <a:schemeClr val="tx2"/>
              </a:solidFill>
            </a:endParaRPr>
          </a:p>
          <a:p>
            <a:pPr algn="ctr"/>
            <a:endParaRPr lang="en-US" altLang="ja-JP" sz="1800" dirty="0">
              <a:solidFill>
                <a:schemeClr val="tx2"/>
              </a:solidFill>
            </a:endParaRPr>
          </a:p>
          <a:p>
            <a:pPr algn="ctr"/>
            <a:endParaRPr kumimoji="1" lang="ja-JP" altLang="en-US" sz="1800" dirty="0">
              <a:solidFill>
                <a:schemeClr val="tx2"/>
              </a:solidFill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3779912" y="2780928"/>
            <a:ext cx="2245946" cy="1728192"/>
          </a:xfrm>
          <a:prstGeom prst="rect">
            <a:avLst/>
          </a:prstGeom>
          <a:solidFill>
            <a:srgbClr val="FF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 smtClean="0">
                <a:solidFill>
                  <a:schemeClr val="tx2"/>
                </a:solidFill>
              </a:rPr>
              <a:t>batch</a:t>
            </a:r>
          </a:p>
          <a:p>
            <a:pPr algn="ctr"/>
            <a:r>
              <a:rPr lang="en-US" altLang="ja-JP" sz="4400" dirty="0" smtClean="0">
                <a:solidFill>
                  <a:schemeClr val="tx2"/>
                </a:solidFill>
              </a:rPr>
              <a:t>process</a:t>
            </a:r>
          </a:p>
        </p:txBody>
      </p:sp>
      <p:sp>
        <p:nvSpPr>
          <p:cNvPr id="39" name="正方形/長方形 38"/>
          <p:cNvSpPr/>
          <p:nvPr/>
        </p:nvSpPr>
        <p:spPr>
          <a:xfrm>
            <a:off x="7956376" y="3645024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E mail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7956376" y="4082896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SMS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sp>
        <p:nvSpPr>
          <p:cNvPr id="51" name="正方形/長方形 50"/>
          <p:cNvSpPr/>
          <p:nvPr/>
        </p:nvSpPr>
        <p:spPr>
          <a:xfrm>
            <a:off x="3779912" y="6002474"/>
            <a:ext cx="2245946" cy="594878"/>
          </a:xfrm>
          <a:prstGeom prst="rect">
            <a:avLst/>
          </a:prstGeom>
          <a:solidFill>
            <a:srgbClr val="FF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 smtClean="0">
                <a:solidFill>
                  <a:schemeClr val="tx2"/>
                </a:solidFill>
              </a:rPr>
              <a:t>User setting</a:t>
            </a:r>
            <a:endParaRPr kumimoji="1" lang="ja-JP" altLang="en-US" sz="3200" dirty="0">
              <a:solidFill>
                <a:schemeClr val="tx2"/>
              </a:solidFill>
            </a:endParaRPr>
          </a:p>
        </p:txBody>
      </p:sp>
      <p:cxnSp>
        <p:nvCxnSpPr>
          <p:cNvPr id="54" name="直線矢印コネクタ 53"/>
          <p:cNvCxnSpPr>
            <a:stCxn id="51" idx="0"/>
            <a:endCxn id="23" idx="2"/>
          </p:cNvCxnSpPr>
          <p:nvPr/>
        </p:nvCxnSpPr>
        <p:spPr>
          <a:xfrm flipV="1">
            <a:off x="4902885" y="4509120"/>
            <a:ext cx="0" cy="14933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円柱 51"/>
          <p:cNvSpPr/>
          <p:nvPr/>
        </p:nvSpPr>
        <p:spPr>
          <a:xfrm>
            <a:off x="4273791" y="5013176"/>
            <a:ext cx="1258198" cy="821780"/>
          </a:xfrm>
          <a:prstGeom prst="can">
            <a:avLst/>
          </a:prstGeom>
          <a:solidFill>
            <a:srgbClr val="FF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 smtClean="0">
                <a:solidFill>
                  <a:schemeClr val="tx2"/>
                </a:solidFill>
              </a:rPr>
              <a:t>UserSettings</a:t>
            </a:r>
            <a:endParaRPr kumimoji="1" lang="en-US" altLang="ja-JP" sz="1200" dirty="0" smtClean="0">
              <a:solidFill>
                <a:schemeClr val="tx2"/>
              </a:solidFill>
            </a:endParaRPr>
          </a:p>
          <a:p>
            <a:pPr algn="ctr"/>
            <a:r>
              <a:rPr lang="en-US" altLang="ja-JP" sz="1200" dirty="0" err="1" smtClean="0">
                <a:solidFill>
                  <a:schemeClr val="tx2"/>
                </a:solidFill>
              </a:rPr>
              <a:t>member_config</a:t>
            </a:r>
            <a:endParaRPr kumimoji="1"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1115616" y="116632"/>
            <a:ext cx="1944216" cy="18722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 smtClean="0">
                <a:solidFill>
                  <a:schemeClr val="tx2"/>
                </a:solidFill>
              </a:rPr>
              <a:t>SNS</a:t>
            </a:r>
          </a:p>
        </p:txBody>
      </p:sp>
      <p:pic>
        <p:nvPicPr>
          <p:cNvPr id="46" name="Picture 5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36"/>
          <a:stretch>
            <a:fillRect/>
          </a:stretch>
        </p:blipFill>
        <p:spPr bwMode="auto">
          <a:xfrm>
            <a:off x="179512" y="188640"/>
            <a:ext cx="383166" cy="544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A5002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24" name="直線矢印コネクタ 23"/>
          <p:cNvCxnSpPr>
            <a:stCxn id="46" idx="3"/>
          </p:cNvCxnSpPr>
          <p:nvPr/>
        </p:nvCxnSpPr>
        <p:spPr>
          <a:xfrm>
            <a:off x="562678" y="460679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5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36"/>
          <a:stretch>
            <a:fillRect/>
          </a:stretch>
        </p:blipFill>
        <p:spPr bwMode="auto">
          <a:xfrm>
            <a:off x="179512" y="836712"/>
            <a:ext cx="383166" cy="544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A5002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53" name="直線矢印コネクタ 52"/>
          <p:cNvCxnSpPr>
            <a:stCxn id="50" idx="3"/>
          </p:cNvCxnSpPr>
          <p:nvPr/>
        </p:nvCxnSpPr>
        <p:spPr>
          <a:xfrm>
            <a:off x="562678" y="1108751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5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36"/>
          <a:stretch>
            <a:fillRect/>
          </a:stretch>
        </p:blipFill>
        <p:spPr bwMode="auto">
          <a:xfrm>
            <a:off x="179512" y="1484784"/>
            <a:ext cx="383166" cy="544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A5002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60" name="直線矢印コネクタ 59"/>
          <p:cNvCxnSpPr>
            <a:stCxn id="59" idx="3"/>
          </p:cNvCxnSpPr>
          <p:nvPr/>
        </p:nvCxnSpPr>
        <p:spPr>
          <a:xfrm>
            <a:off x="562678" y="1756823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5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36"/>
          <a:stretch>
            <a:fillRect/>
          </a:stretch>
        </p:blipFill>
        <p:spPr bwMode="auto">
          <a:xfrm>
            <a:off x="2964698" y="6014176"/>
            <a:ext cx="383166" cy="544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A5002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63" name="直線矢印コネクタ 62"/>
          <p:cNvCxnSpPr/>
          <p:nvPr/>
        </p:nvCxnSpPr>
        <p:spPr>
          <a:xfrm>
            <a:off x="3203848" y="6374216"/>
            <a:ext cx="624946" cy="15993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正方形/長方形 71"/>
          <p:cNvSpPr/>
          <p:nvPr/>
        </p:nvSpPr>
        <p:spPr>
          <a:xfrm>
            <a:off x="7956376" y="3181643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OpenPNE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sp>
        <p:nvSpPr>
          <p:cNvPr id="73" name="正方形/長方形 72"/>
          <p:cNvSpPr/>
          <p:nvPr/>
        </p:nvSpPr>
        <p:spPr>
          <a:xfrm>
            <a:off x="7956376" y="2677587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RING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cxnSp>
        <p:nvCxnSpPr>
          <p:cNvPr id="74" name="直線矢印コネクタ 73"/>
          <p:cNvCxnSpPr>
            <a:stCxn id="12" idx="2"/>
            <a:endCxn id="23" idx="0"/>
          </p:cNvCxnSpPr>
          <p:nvPr/>
        </p:nvCxnSpPr>
        <p:spPr>
          <a:xfrm>
            <a:off x="4902885" y="1700808"/>
            <a:ext cx="0" cy="1080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/>
          <p:cNvCxnSpPr/>
          <p:nvPr/>
        </p:nvCxnSpPr>
        <p:spPr>
          <a:xfrm>
            <a:off x="5940152" y="3820373"/>
            <a:ext cx="2160240" cy="0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円柱 85"/>
          <p:cNvSpPr/>
          <p:nvPr/>
        </p:nvSpPr>
        <p:spPr>
          <a:xfrm>
            <a:off x="6588224" y="44624"/>
            <a:ext cx="2448272" cy="122413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err="1" smtClean="0">
                <a:solidFill>
                  <a:schemeClr val="tx2"/>
                </a:solidFill>
              </a:rPr>
              <a:t>Amazno</a:t>
            </a:r>
            <a:r>
              <a:rPr kumimoji="1" lang="en-US" altLang="ja-JP" sz="2800" dirty="0" smtClean="0">
                <a:solidFill>
                  <a:schemeClr val="tx2"/>
                </a:solidFill>
              </a:rPr>
              <a:t> SQS</a:t>
            </a:r>
          </a:p>
          <a:p>
            <a:pPr algn="ctr"/>
            <a:r>
              <a:rPr lang="en-US" altLang="ja-JP" sz="2800" dirty="0" smtClean="0">
                <a:solidFill>
                  <a:schemeClr val="tx2"/>
                </a:solidFill>
              </a:rPr>
              <a:t>CQC QUEUE</a:t>
            </a:r>
            <a:endParaRPr kumimoji="1" lang="ja-JP" altLang="en-US" sz="2800" dirty="0">
              <a:solidFill>
                <a:schemeClr val="tx2"/>
              </a:solidFill>
            </a:endParaRPr>
          </a:p>
        </p:txBody>
      </p:sp>
      <p:cxnSp>
        <p:nvCxnSpPr>
          <p:cNvPr id="87" name="直線矢印コネクタ 86"/>
          <p:cNvCxnSpPr/>
          <p:nvPr/>
        </p:nvCxnSpPr>
        <p:spPr>
          <a:xfrm flipV="1">
            <a:off x="2771800" y="764704"/>
            <a:ext cx="1512168" cy="504056"/>
          </a:xfrm>
          <a:prstGeom prst="straightConnector1">
            <a:avLst/>
          </a:prstGeom>
          <a:ln w="7620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87"/>
          <p:cNvCxnSpPr/>
          <p:nvPr/>
        </p:nvCxnSpPr>
        <p:spPr>
          <a:xfrm>
            <a:off x="6012160" y="620688"/>
            <a:ext cx="720080" cy="0"/>
          </a:xfrm>
          <a:prstGeom prst="straightConnector1">
            <a:avLst/>
          </a:prstGeom>
          <a:ln w="7620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U ターン矢印 89"/>
          <p:cNvSpPr/>
          <p:nvPr/>
        </p:nvSpPr>
        <p:spPr>
          <a:xfrm rot="1531530" flipH="1">
            <a:off x="5974676" y="621851"/>
            <a:ext cx="337423" cy="2576147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98257"/>
            </a:avLst>
          </a:prstGeom>
          <a:solidFill>
            <a:srgbClr val="FF0080"/>
          </a:solidFill>
          <a:ln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2" name="円柱 91"/>
          <p:cNvSpPr/>
          <p:nvPr/>
        </p:nvSpPr>
        <p:spPr>
          <a:xfrm>
            <a:off x="3635896" y="1052736"/>
            <a:ext cx="720080" cy="576064"/>
          </a:xfrm>
          <a:prstGeom prst="can">
            <a:avLst/>
          </a:prstGeom>
          <a:solidFill>
            <a:srgbClr val="FF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2"/>
                </a:solidFill>
              </a:rPr>
              <a:t>Site</a:t>
            </a:r>
          </a:p>
          <a:p>
            <a:pPr algn="ctr"/>
            <a:r>
              <a:rPr lang="en-US" altLang="ja-JP" sz="1200" dirty="0" smtClean="0">
                <a:solidFill>
                  <a:schemeClr val="tx2"/>
                </a:solidFill>
              </a:rPr>
              <a:t>Settings</a:t>
            </a:r>
            <a:endParaRPr kumimoji="1"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93" name="テキスト ボックス 92"/>
          <p:cNvSpPr txBox="1"/>
          <p:nvPr/>
        </p:nvSpPr>
        <p:spPr>
          <a:xfrm>
            <a:off x="4334630" y="1022461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smtClean="0"/>
              <a:t>ID API     </a:t>
            </a:r>
            <a:r>
              <a:rPr lang="en-US" altLang="ja-JP" sz="1200" dirty="0" smtClean="0"/>
              <a:t>SITE</a:t>
            </a:r>
            <a:br>
              <a:rPr lang="en-US" altLang="ja-JP" sz="1200" dirty="0" smtClean="0"/>
            </a:br>
            <a:r>
              <a:rPr lang="en-US" altLang="ja-JP" sz="1200" dirty="0" smtClean="0"/>
              <a:t>1</a:t>
            </a:r>
            <a:r>
              <a:rPr lang="en-US" altLang="ja-JP" sz="1200" dirty="0"/>
              <a:t> </a:t>
            </a:r>
            <a:r>
              <a:rPr lang="en-US" altLang="ja-JP" sz="1200" dirty="0" smtClean="0"/>
              <a:t>31415</a:t>
            </a:r>
            <a:r>
              <a:rPr lang="en-US" altLang="ja-JP" sz="1200" dirty="0"/>
              <a:t> </a:t>
            </a:r>
            <a:r>
              <a:rPr kumimoji="1" lang="en-US" altLang="ja-JP" sz="1200" dirty="0" err="1" smtClean="0"/>
              <a:t>sns.op</a:t>
            </a:r>
            <a:r>
              <a:rPr lang="en-US" altLang="ja-JP" sz="1200" dirty="0" err="1" smtClean="0"/>
              <a:t>enpne.jp</a:t>
            </a:r>
            <a:endParaRPr lang="en-US" altLang="ja-JP" sz="1200" dirty="0" smtClean="0"/>
          </a:p>
          <a:p>
            <a:r>
              <a:rPr lang="en-US" altLang="ja-JP" sz="1200" dirty="0" smtClean="0"/>
              <a:t>2 65358 </a:t>
            </a:r>
            <a:r>
              <a:rPr lang="en-US" altLang="ja-JP" sz="1200" dirty="0" err="1" smtClean="0"/>
              <a:t>op.jp</a:t>
            </a:r>
            <a:endParaRPr lang="en-US" altLang="ja-JP" sz="1200" dirty="0"/>
          </a:p>
        </p:txBody>
      </p:sp>
      <p:sp>
        <p:nvSpPr>
          <p:cNvPr id="94" name="正方形/長方形 93"/>
          <p:cNvSpPr/>
          <p:nvPr/>
        </p:nvSpPr>
        <p:spPr>
          <a:xfrm>
            <a:off x="7956376" y="5019000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PUSH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sp>
        <p:nvSpPr>
          <p:cNvPr id="98" name="正方形/長方形 97"/>
          <p:cNvSpPr/>
          <p:nvPr/>
        </p:nvSpPr>
        <p:spPr>
          <a:xfrm>
            <a:off x="6471208" y="5019000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BOX CAR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cxnSp>
        <p:nvCxnSpPr>
          <p:cNvPr id="99" name="直線矢印コネクタ 98"/>
          <p:cNvCxnSpPr/>
          <p:nvPr/>
        </p:nvCxnSpPr>
        <p:spPr>
          <a:xfrm>
            <a:off x="7452320" y="5163016"/>
            <a:ext cx="624946" cy="15993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/>
          <p:cNvCxnSpPr/>
          <p:nvPr/>
        </p:nvCxnSpPr>
        <p:spPr>
          <a:xfrm>
            <a:off x="5895144" y="5173677"/>
            <a:ext cx="624946" cy="15993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正方形/長方形 99"/>
          <p:cNvSpPr/>
          <p:nvPr/>
        </p:nvSpPr>
        <p:spPr>
          <a:xfrm>
            <a:off x="6471208" y="4077072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err="1" smtClean="0">
                <a:solidFill>
                  <a:schemeClr val="tx2"/>
                </a:solidFill>
              </a:rPr>
              <a:t>Clickatell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cxnSp>
        <p:nvCxnSpPr>
          <p:cNvPr id="81" name="直線矢印コネクタ 80"/>
          <p:cNvCxnSpPr/>
          <p:nvPr/>
        </p:nvCxnSpPr>
        <p:spPr>
          <a:xfrm>
            <a:off x="5895144" y="4237573"/>
            <a:ext cx="624946" cy="15993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/>
          <p:cNvCxnSpPr/>
          <p:nvPr/>
        </p:nvCxnSpPr>
        <p:spPr>
          <a:xfrm>
            <a:off x="7452320" y="4196898"/>
            <a:ext cx="624946" cy="15993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正方形/長方形 105"/>
          <p:cNvSpPr/>
          <p:nvPr/>
        </p:nvSpPr>
        <p:spPr>
          <a:xfrm>
            <a:off x="6516216" y="3189348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 err="1" smtClean="0">
                <a:solidFill>
                  <a:schemeClr val="tx2"/>
                </a:solidFill>
              </a:rPr>
              <a:t>opIDCall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cxnSp>
        <p:nvCxnSpPr>
          <p:cNvPr id="79" name="直線矢印コネクタ 78"/>
          <p:cNvCxnSpPr/>
          <p:nvPr/>
        </p:nvCxnSpPr>
        <p:spPr>
          <a:xfrm>
            <a:off x="5967152" y="3325659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/>
          <p:cNvCxnSpPr/>
          <p:nvPr/>
        </p:nvCxnSpPr>
        <p:spPr>
          <a:xfrm>
            <a:off x="7475446" y="3356992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正方形/長方形 107"/>
          <p:cNvSpPr/>
          <p:nvPr/>
        </p:nvSpPr>
        <p:spPr>
          <a:xfrm>
            <a:off x="6516216" y="2666926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synapse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cxnSp>
        <p:nvCxnSpPr>
          <p:cNvPr id="109" name="直線矢印コネクタ 108"/>
          <p:cNvCxnSpPr/>
          <p:nvPr/>
        </p:nvCxnSpPr>
        <p:spPr>
          <a:xfrm>
            <a:off x="5967152" y="2803237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線矢印コネクタ 109"/>
          <p:cNvCxnSpPr/>
          <p:nvPr/>
        </p:nvCxnSpPr>
        <p:spPr>
          <a:xfrm>
            <a:off x="7475446" y="2834570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5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36"/>
          <a:stretch>
            <a:fillRect/>
          </a:stretch>
        </p:blipFill>
        <p:spPr bwMode="auto">
          <a:xfrm>
            <a:off x="6516216" y="6021288"/>
            <a:ext cx="383166" cy="544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A5002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58" name="直線矢印コネクタ 57"/>
          <p:cNvCxnSpPr/>
          <p:nvPr/>
        </p:nvCxnSpPr>
        <p:spPr>
          <a:xfrm flipH="1">
            <a:off x="5891270" y="6381328"/>
            <a:ext cx="792088" cy="0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6876256" y="6063679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Site Owner</a:t>
            </a:r>
            <a:endParaRPr kumimoji="1" lang="ja-JP" altLang="en-US" sz="2400" dirty="0"/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2267744" y="6063679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User</a:t>
            </a:r>
            <a:endParaRPr kumimoji="1" lang="ja-JP" altLang="en-US" sz="2400" dirty="0"/>
          </a:p>
        </p:txBody>
      </p:sp>
      <p:sp>
        <p:nvSpPr>
          <p:cNvPr id="66" name="正方形/長方形 65"/>
          <p:cNvSpPr/>
          <p:nvPr/>
        </p:nvSpPr>
        <p:spPr>
          <a:xfrm>
            <a:off x="7956376" y="4562762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>
                <a:solidFill>
                  <a:schemeClr val="tx2"/>
                </a:solidFill>
              </a:rPr>
              <a:t>M</a:t>
            </a:r>
            <a:r>
              <a:rPr lang="en-US" altLang="ja-JP" sz="1800" dirty="0" smtClean="0">
                <a:solidFill>
                  <a:schemeClr val="tx2"/>
                </a:solidFill>
              </a:rPr>
              <a:t>MS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cxnSp>
        <p:nvCxnSpPr>
          <p:cNvPr id="71" name="直線矢印コネクタ 70"/>
          <p:cNvCxnSpPr/>
          <p:nvPr/>
        </p:nvCxnSpPr>
        <p:spPr>
          <a:xfrm>
            <a:off x="5940152" y="4772962"/>
            <a:ext cx="2160240" cy="0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1523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6600" dirty="0" smtClean="0"/>
              <a:t>OpenPNE3.6.0</a:t>
            </a:r>
            <a:endParaRPr kumimoji="1" lang="ja-JP" altLang="en-US" sz="660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SNS</a:t>
            </a:r>
            <a:r>
              <a:rPr lang="ja-JP" altLang="en-US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を構築</a:t>
            </a:r>
            <a:r>
              <a:rPr lang="ja-JP" altLang="en-US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するソフトウエア</a:t>
            </a:r>
          </a:p>
          <a:p>
            <a:r>
              <a:rPr lang="en-US" altLang="ja-JP" sz="4800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symfony</a:t>
            </a:r>
            <a:r>
              <a:rPr lang="en-US" altLang="ja-JP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1.4</a:t>
            </a:r>
            <a:r>
              <a:rPr lang="en-US" altLang="ja-JP" sz="4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+ Doctrine</a:t>
            </a:r>
          </a:p>
          <a:p>
            <a:r>
              <a:rPr lang="en-US" altLang="ja-JP" sz="4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120/WEEK (13876 Ver3 Total)</a:t>
            </a:r>
            <a:endParaRPr lang="ja-JP" altLang="en-US" sz="4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46DB0-816C-7249-95A2-AE7D8C8A7F5E}" type="slidenum">
              <a:rPr lang="en-US" altLang="ja-JP" smtClean="0"/>
              <a:pPr>
                <a:defRPr/>
              </a:pPr>
              <a:t>6</a:t>
            </a:fld>
            <a:endParaRPr lang="en-US" altLang="ja-JP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10" y="5157192"/>
            <a:ext cx="6916774" cy="124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370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4800" dirty="0" smtClean="0"/>
              <a:t>サイトの構造</a:t>
            </a:r>
            <a:endParaRPr kumimoji="1" lang="ja-JP" altLang="en-US" sz="4800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323528" y="1927373"/>
            <a:ext cx="8064896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Service</a:t>
            </a:r>
            <a:r>
              <a:rPr lang="en-US" altLang="ja-JP" sz="4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 </a:t>
            </a:r>
            <a:r>
              <a:rPr lang="en-US" altLang="ja-JP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ja-JP" altLang="en-US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＝</a:t>
            </a:r>
            <a:endParaRPr lang="en-US" altLang="ja-JP" sz="48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			OpenPNE3.6.0</a:t>
            </a:r>
            <a:endParaRPr lang="en-US" altLang="ja-JP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			– </a:t>
            </a:r>
            <a:r>
              <a:rPr lang="en-US" altLang="ja-JP" sz="4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Bundle plugins</a:t>
            </a:r>
          </a:p>
          <a:p>
            <a:pPr marL="0" indent="0">
              <a:buNone/>
            </a:pPr>
            <a:r>
              <a:rPr lang="en-US" altLang="ja-JP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			+ </a:t>
            </a:r>
            <a:r>
              <a:rPr lang="en-US" altLang="ja-JP" sz="48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opCQCPlugin</a:t>
            </a:r>
            <a:endParaRPr lang="en-US" altLang="ja-JP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			+ </a:t>
            </a:r>
            <a:r>
              <a:rPr lang="en-US" altLang="ja-JP" sz="48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opSkinCQCPlugin</a:t>
            </a:r>
            <a:endParaRPr lang="ja-JP" altLang="en-US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kumimoji="1" lang="ja-JP" altLang="en-US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46DB0-816C-7249-95A2-AE7D8C8A7F5E}" type="slidenum">
              <a:rPr lang="en-US" altLang="ja-JP" smtClean="0"/>
              <a:pPr>
                <a:defRPr/>
              </a:pPr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07539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6600" dirty="0" err="1" smtClean="0"/>
              <a:t>opCQCPlugin</a:t>
            </a:r>
            <a:endParaRPr kumimoji="1" lang="ja-JP" altLang="en-US" sz="660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76872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本サイトの機能を実現する</a:t>
            </a:r>
          </a:p>
          <a:p>
            <a:pPr marL="0" indent="0">
              <a:buNone/>
            </a:pPr>
            <a:r>
              <a:rPr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・</a:t>
            </a:r>
            <a:r>
              <a:rPr lang="en-US" altLang="ja-JP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API</a:t>
            </a:r>
            <a:r>
              <a:rPr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リクエスト処理</a:t>
            </a:r>
            <a:endParaRPr lang="en-US" altLang="ja-JP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・ユーザーアクションコントロール</a:t>
            </a:r>
          </a:p>
          <a:p>
            <a:pPr marL="0" indent="0">
              <a:buNone/>
            </a:pPr>
            <a:r>
              <a:rPr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・キューのバッチ処理</a:t>
            </a:r>
            <a:endParaRPr kumimoji="1" lang="ja-JP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46DB0-816C-7249-95A2-AE7D8C8A7F5E}" type="slidenum">
              <a:rPr lang="en-US" altLang="ja-JP" smtClean="0"/>
              <a:pPr>
                <a:defRPr/>
              </a:pPr>
              <a:t>8</a:t>
            </a:fld>
            <a:endParaRPr lang="en-US" altLang="ja-JP"/>
          </a:p>
        </p:txBody>
      </p:sp>
      <p:sp>
        <p:nvSpPr>
          <p:cNvPr id="5" name="タイトル 2"/>
          <p:cNvSpPr txBox="1">
            <a:spLocks/>
          </p:cNvSpPr>
          <p:nvPr/>
        </p:nvSpPr>
        <p:spPr bwMode="auto">
          <a:xfrm>
            <a:off x="467544" y="386104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6600" dirty="0" err="1" smtClean="0">
                <a:solidFill>
                  <a:srgbClr val="FF6600"/>
                </a:solidFill>
              </a:rPr>
              <a:t>opSkinCQCPlugin</a:t>
            </a:r>
            <a:endParaRPr lang="ja-JP" altLang="en-US" sz="6600" dirty="0">
              <a:solidFill>
                <a:srgbClr val="FF6600"/>
              </a:solidFill>
            </a:endParaRPr>
          </a:p>
        </p:txBody>
      </p:sp>
      <p:sp>
        <p:nvSpPr>
          <p:cNvPr id="6" name="コンテンツ プレースホルダー 3"/>
          <p:cNvSpPr txBox="1">
            <a:spLocks/>
          </p:cNvSpPr>
          <p:nvPr/>
        </p:nvSpPr>
        <p:spPr bwMode="auto">
          <a:xfrm>
            <a:off x="467544" y="5186611"/>
            <a:ext cx="8229600" cy="12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altLang="ja-JP" sz="3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CSS</a:t>
            </a:r>
            <a:r>
              <a:rPr lang="en-US" altLang="ja-JP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ja-JP" sz="3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Image JavaScript</a:t>
            </a:r>
            <a:r>
              <a:rPr lang="ja-JP" altLang="en-US" sz="3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などのデザインを表現</a:t>
            </a:r>
            <a:endParaRPr lang="ja-JP" altLang="en-US" sz="3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5518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6600" dirty="0" smtClean="0"/>
              <a:t>SMS</a:t>
            </a:r>
            <a:endParaRPr kumimoji="1" lang="ja-JP" altLang="en-US" sz="660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電話番号から</a:t>
            </a:r>
            <a:r>
              <a:rPr lang="en-US" altLang="ja-JP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SMS</a:t>
            </a:r>
            <a:r>
              <a:rPr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を送信する</a:t>
            </a:r>
          </a:p>
          <a:p>
            <a:r>
              <a:rPr kumimoji="1" lang="en-US" altLang="ja-JP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Click A Tell API</a:t>
            </a:r>
            <a:r>
              <a:rPr kumimoji="1"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を利用（</a:t>
            </a:r>
            <a:r>
              <a:rPr kumimoji="1" lang="en-US" altLang="ja-JP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@3</a:t>
            </a:r>
            <a:r>
              <a:rPr kumimoji="1"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円）</a:t>
            </a:r>
          </a:p>
          <a:p>
            <a:r>
              <a:rPr kumimoji="1" lang="en-US" altLang="ja-JP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KDDI</a:t>
            </a:r>
            <a:r>
              <a:rPr kumimoji="1"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に</a:t>
            </a:r>
            <a:r>
              <a:rPr kumimoji="1" lang="en-US" altLang="ja-JP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SMS</a:t>
            </a:r>
            <a:r>
              <a:rPr kumimoji="1"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が送れないらしい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46DB0-816C-7249-95A2-AE7D8C8A7F5E}" type="slidenum">
              <a:rPr lang="en-US" altLang="ja-JP" smtClean="0"/>
              <a:pPr>
                <a:defRPr/>
              </a:pPr>
              <a:t>9</a:t>
            </a:fld>
            <a:endParaRPr lang="en-US" altLang="ja-JP"/>
          </a:p>
        </p:txBody>
      </p:sp>
      <p:pic>
        <p:nvPicPr>
          <p:cNvPr id="5" name="図 4" descr="20111016125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4056637"/>
            <a:ext cx="6624736" cy="203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001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6600" dirty="0" smtClean="0"/>
              <a:t>Amazon SQS</a:t>
            </a:r>
            <a:endParaRPr kumimoji="1" lang="ja-JP" altLang="en-US" sz="660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API</a:t>
            </a:r>
            <a:r>
              <a:rPr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サーバの</a:t>
            </a:r>
            <a:r>
              <a:rPr kumimoji="1"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キューデータベースとして利用</a:t>
            </a:r>
            <a:endParaRPr kumimoji="1" lang="ja-JP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46DB0-816C-7249-95A2-AE7D8C8A7F5E}" type="slidenum">
              <a:rPr lang="en-US" altLang="ja-JP" smtClean="0"/>
              <a:pPr>
                <a:defRPr/>
              </a:pPr>
              <a:t>10</a:t>
            </a:fld>
            <a:endParaRPr lang="en-US" altLang="ja-JP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3861048"/>
            <a:ext cx="4967508" cy="2016224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251520" y="5949280"/>
            <a:ext cx="35283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400" dirty="0" smtClean="0"/>
              <a:t>※</a:t>
            </a:r>
            <a:r>
              <a:rPr lang="ja-JP" altLang="en-US" sz="4400" dirty="0" smtClean="0"/>
              <a:t>未実装</a:t>
            </a:r>
            <a:endParaRPr kumimoji="1" lang="ja-JP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027973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6600" dirty="0" smtClean="0"/>
              <a:t>PUSH </a:t>
            </a:r>
            <a:r>
              <a:rPr lang="ja-JP" altLang="en-US" sz="6600" dirty="0" smtClean="0"/>
              <a:t>（</a:t>
            </a:r>
            <a:r>
              <a:rPr lang="en-US" altLang="ja-JP" sz="6600" dirty="0" err="1" smtClean="0"/>
              <a:t>iOS</a:t>
            </a:r>
            <a:r>
              <a:rPr lang="ja-JP" altLang="en-US" sz="6600" dirty="0" smtClean="0"/>
              <a:t>）</a:t>
            </a:r>
            <a:endParaRPr kumimoji="1" lang="ja-JP" altLang="en-US" sz="660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iPhone </a:t>
            </a:r>
            <a:r>
              <a:rPr lang="en-US" altLang="ja-JP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iPad</a:t>
            </a:r>
            <a:r>
              <a:rPr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にプッシュする</a:t>
            </a:r>
          </a:p>
          <a:p>
            <a:r>
              <a:rPr lang="en-US" altLang="ja-JP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BOXCAR</a:t>
            </a:r>
            <a:r>
              <a:rPr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を利用</a:t>
            </a:r>
            <a:endParaRPr kumimoji="1" lang="ja-JP" altLang="en-US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46DB0-816C-7249-95A2-AE7D8C8A7F5E}" type="slidenum">
              <a:rPr lang="en-US" altLang="ja-JP" smtClean="0"/>
              <a:pPr>
                <a:defRPr/>
              </a:pPr>
              <a:t>11</a:t>
            </a:fld>
            <a:endParaRPr lang="en-US" altLang="ja-JP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419" y="2276872"/>
            <a:ext cx="2910069" cy="436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62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6600" dirty="0" smtClean="0"/>
              <a:t>Phone Call</a:t>
            </a:r>
            <a:endParaRPr kumimoji="1" lang="ja-JP" altLang="en-US" sz="660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電話を鳴らす。最終手段！</a:t>
            </a:r>
          </a:p>
          <a:p>
            <a:r>
              <a:rPr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友人が作成した</a:t>
            </a:r>
            <a:r>
              <a:rPr lang="en-US" altLang="ja-JP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API</a:t>
            </a:r>
            <a:r>
              <a:rPr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（</a:t>
            </a:r>
            <a:r>
              <a:rPr lang="en-US" altLang="ja-JP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synaps</a:t>
            </a:r>
            <a:r>
              <a:rPr lang="ja-JP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）を使用</a:t>
            </a:r>
            <a:endParaRPr kumimoji="1" lang="ja-JP" altLang="en-US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46DB0-816C-7249-95A2-AE7D8C8A7F5E}" type="slidenum">
              <a:rPr lang="en-US" altLang="ja-JP" smtClean="0"/>
              <a:pPr>
                <a:defRPr/>
              </a:pPr>
              <a:t>12</a:t>
            </a:fld>
            <a:endParaRPr lang="en-US" altLang="ja-JP"/>
          </a:p>
        </p:txBody>
      </p:sp>
      <p:pic>
        <p:nvPicPr>
          <p:cNvPr id="5" name="図 4" descr="20111016125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4221088"/>
            <a:ext cx="5400600" cy="115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1352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sz="11500" dirty="0" smtClean="0"/>
              <a:t>DEMO</a:t>
            </a:r>
            <a:endParaRPr kumimoji="1" lang="ja-JP" altLang="en-US" sz="11500" dirty="0"/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7D00E0-AB3C-9646-AE9D-B99C2EBAE40C}" type="slidenum">
              <a:rPr lang="en-US" altLang="ja-JP" smtClean="0"/>
              <a:pPr>
                <a:defRPr/>
              </a:pPr>
              <a:t>13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058136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/>
        </p:nvSpPr>
        <p:spPr>
          <a:xfrm>
            <a:off x="3563888" y="116632"/>
            <a:ext cx="2664296" cy="662473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3779912" y="188640"/>
            <a:ext cx="2245946" cy="15121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 err="1" smtClean="0">
                <a:solidFill>
                  <a:schemeClr val="tx2"/>
                </a:solidFill>
              </a:rPr>
              <a:t>api.cqc.jp</a:t>
            </a:r>
            <a:endParaRPr kumimoji="1" lang="en-US" altLang="ja-JP" sz="3200" dirty="0" smtClean="0">
              <a:solidFill>
                <a:schemeClr val="tx2"/>
              </a:solidFill>
            </a:endParaRPr>
          </a:p>
          <a:p>
            <a:pPr algn="ctr"/>
            <a:endParaRPr lang="en-US" altLang="ja-JP" sz="1800" dirty="0">
              <a:solidFill>
                <a:schemeClr val="tx2"/>
              </a:solidFill>
            </a:endParaRPr>
          </a:p>
          <a:p>
            <a:pPr algn="ctr"/>
            <a:endParaRPr kumimoji="1" lang="en-US" altLang="ja-JP" sz="1800" dirty="0" smtClean="0">
              <a:solidFill>
                <a:schemeClr val="tx2"/>
              </a:solidFill>
            </a:endParaRPr>
          </a:p>
          <a:p>
            <a:pPr algn="ctr"/>
            <a:endParaRPr lang="en-US" altLang="ja-JP" sz="1800" dirty="0">
              <a:solidFill>
                <a:schemeClr val="tx2"/>
              </a:solidFill>
            </a:endParaRPr>
          </a:p>
          <a:p>
            <a:pPr algn="ctr"/>
            <a:endParaRPr kumimoji="1" lang="ja-JP" altLang="en-US" sz="1800" dirty="0">
              <a:solidFill>
                <a:schemeClr val="tx2"/>
              </a:solidFill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3779912" y="2566956"/>
            <a:ext cx="2245946" cy="2230196"/>
          </a:xfrm>
          <a:prstGeom prst="rect">
            <a:avLst/>
          </a:prstGeom>
          <a:solidFill>
            <a:srgbClr val="FF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 smtClean="0">
                <a:solidFill>
                  <a:schemeClr val="tx2"/>
                </a:solidFill>
              </a:rPr>
              <a:t>batch</a:t>
            </a:r>
          </a:p>
          <a:p>
            <a:pPr algn="ctr"/>
            <a:r>
              <a:rPr lang="en-US" altLang="ja-JP" sz="4400" dirty="0" smtClean="0">
                <a:solidFill>
                  <a:schemeClr val="tx2"/>
                </a:solidFill>
              </a:rPr>
              <a:t>process</a:t>
            </a:r>
          </a:p>
        </p:txBody>
      </p:sp>
      <p:sp>
        <p:nvSpPr>
          <p:cNvPr id="39" name="正方形/長方形 38"/>
          <p:cNvSpPr/>
          <p:nvPr/>
        </p:nvSpPr>
        <p:spPr>
          <a:xfrm>
            <a:off x="7956376" y="3645024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E mail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7956376" y="4082896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SMS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sp>
        <p:nvSpPr>
          <p:cNvPr id="51" name="正方形/長方形 50"/>
          <p:cNvSpPr/>
          <p:nvPr/>
        </p:nvSpPr>
        <p:spPr>
          <a:xfrm>
            <a:off x="3779912" y="6002474"/>
            <a:ext cx="2245946" cy="594878"/>
          </a:xfrm>
          <a:prstGeom prst="rect">
            <a:avLst/>
          </a:prstGeom>
          <a:solidFill>
            <a:srgbClr val="FF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 smtClean="0">
                <a:solidFill>
                  <a:schemeClr val="tx2"/>
                </a:solidFill>
              </a:rPr>
              <a:t>User setting</a:t>
            </a:r>
            <a:endParaRPr kumimoji="1" lang="ja-JP" altLang="en-US" sz="3200" dirty="0">
              <a:solidFill>
                <a:schemeClr val="tx2"/>
              </a:solidFill>
            </a:endParaRPr>
          </a:p>
        </p:txBody>
      </p:sp>
      <p:cxnSp>
        <p:nvCxnSpPr>
          <p:cNvPr id="54" name="直線矢印コネクタ 53"/>
          <p:cNvCxnSpPr>
            <a:stCxn id="51" idx="0"/>
            <a:endCxn id="23" idx="2"/>
          </p:cNvCxnSpPr>
          <p:nvPr/>
        </p:nvCxnSpPr>
        <p:spPr>
          <a:xfrm flipV="1">
            <a:off x="4902885" y="4797152"/>
            <a:ext cx="0" cy="12053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円柱 51"/>
          <p:cNvSpPr/>
          <p:nvPr/>
        </p:nvSpPr>
        <p:spPr>
          <a:xfrm>
            <a:off x="4273791" y="5013176"/>
            <a:ext cx="1258198" cy="821780"/>
          </a:xfrm>
          <a:prstGeom prst="can">
            <a:avLst/>
          </a:prstGeom>
          <a:solidFill>
            <a:srgbClr val="FF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 smtClean="0">
                <a:solidFill>
                  <a:schemeClr val="tx2"/>
                </a:solidFill>
              </a:rPr>
              <a:t>UserSettings</a:t>
            </a:r>
            <a:endParaRPr kumimoji="1" lang="en-US" altLang="ja-JP" sz="1200" dirty="0" smtClean="0">
              <a:solidFill>
                <a:schemeClr val="tx2"/>
              </a:solidFill>
            </a:endParaRPr>
          </a:p>
          <a:p>
            <a:pPr algn="ctr"/>
            <a:r>
              <a:rPr lang="en-US" altLang="ja-JP" sz="1200" dirty="0" err="1" smtClean="0">
                <a:solidFill>
                  <a:schemeClr val="tx2"/>
                </a:solidFill>
              </a:rPr>
              <a:t>member_config</a:t>
            </a:r>
            <a:endParaRPr kumimoji="1"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1115616" y="116632"/>
            <a:ext cx="1944216" cy="2160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2"/>
                </a:solidFill>
              </a:rPr>
              <a:t>SNS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pic>
        <p:nvPicPr>
          <p:cNvPr id="46" name="Picture 5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36"/>
          <a:stretch>
            <a:fillRect/>
          </a:stretch>
        </p:blipFill>
        <p:spPr bwMode="auto">
          <a:xfrm>
            <a:off x="179512" y="188640"/>
            <a:ext cx="383166" cy="544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A5002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24" name="直線矢印コネクタ 23"/>
          <p:cNvCxnSpPr>
            <a:stCxn id="46" idx="3"/>
          </p:cNvCxnSpPr>
          <p:nvPr/>
        </p:nvCxnSpPr>
        <p:spPr>
          <a:xfrm>
            <a:off x="562678" y="460679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5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36"/>
          <a:stretch>
            <a:fillRect/>
          </a:stretch>
        </p:blipFill>
        <p:spPr bwMode="auto">
          <a:xfrm>
            <a:off x="179512" y="836712"/>
            <a:ext cx="383166" cy="544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A5002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53" name="直線矢印コネクタ 52"/>
          <p:cNvCxnSpPr>
            <a:stCxn id="50" idx="3"/>
          </p:cNvCxnSpPr>
          <p:nvPr/>
        </p:nvCxnSpPr>
        <p:spPr>
          <a:xfrm>
            <a:off x="562678" y="1108751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5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36"/>
          <a:stretch>
            <a:fillRect/>
          </a:stretch>
        </p:blipFill>
        <p:spPr bwMode="auto">
          <a:xfrm>
            <a:off x="179512" y="1484784"/>
            <a:ext cx="383166" cy="544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A5002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60" name="直線矢印コネクタ 59"/>
          <p:cNvCxnSpPr>
            <a:stCxn id="59" idx="3"/>
          </p:cNvCxnSpPr>
          <p:nvPr/>
        </p:nvCxnSpPr>
        <p:spPr>
          <a:xfrm>
            <a:off x="562678" y="1756823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5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36"/>
          <a:stretch>
            <a:fillRect/>
          </a:stretch>
        </p:blipFill>
        <p:spPr bwMode="auto">
          <a:xfrm>
            <a:off x="2964698" y="6014176"/>
            <a:ext cx="383166" cy="544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A5002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63" name="直線矢印コネクタ 62"/>
          <p:cNvCxnSpPr/>
          <p:nvPr/>
        </p:nvCxnSpPr>
        <p:spPr>
          <a:xfrm>
            <a:off x="3203848" y="6374216"/>
            <a:ext cx="624946" cy="15993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正方形/長方形 71"/>
          <p:cNvSpPr/>
          <p:nvPr/>
        </p:nvSpPr>
        <p:spPr>
          <a:xfrm>
            <a:off x="7956376" y="3181643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OpenPNE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sp>
        <p:nvSpPr>
          <p:cNvPr id="73" name="正方形/長方形 72"/>
          <p:cNvSpPr/>
          <p:nvPr/>
        </p:nvSpPr>
        <p:spPr>
          <a:xfrm>
            <a:off x="7956376" y="2677587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RING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cxnSp>
        <p:nvCxnSpPr>
          <p:cNvPr id="74" name="直線矢印コネクタ 73"/>
          <p:cNvCxnSpPr>
            <a:stCxn id="12" idx="2"/>
            <a:endCxn id="23" idx="0"/>
          </p:cNvCxnSpPr>
          <p:nvPr/>
        </p:nvCxnSpPr>
        <p:spPr>
          <a:xfrm>
            <a:off x="4902885" y="1700808"/>
            <a:ext cx="0" cy="8661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/>
          <p:cNvCxnSpPr/>
          <p:nvPr/>
        </p:nvCxnSpPr>
        <p:spPr>
          <a:xfrm>
            <a:off x="5940152" y="3820373"/>
            <a:ext cx="2160240" cy="0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円柱 85"/>
          <p:cNvSpPr/>
          <p:nvPr/>
        </p:nvSpPr>
        <p:spPr>
          <a:xfrm>
            <a:off x="6588224" y="44624"/>
            <a:ext cx="2448272" cy="122413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err="1" smtClean="0">
                <a:solidFill>
                  <a:schemeClr val="tx2"/>
                </a:solidFill>
              </a:rPr>
              <a:t>Amazno</a:t>
            </a:r>
            <a:r>
              <a:rPr kumimoji="1" lang="en-US" altLang="ja-JP" sz="2800" dirty="0" smtClean="0">
                <a:solidFill>
                  <a:schemeClr val="tx2"/>
                </a:solidFill>
              </a:rPr>
              <a:t> SQS</a:t>
            </a:r>
          </a:p>
          <a:p>
            <a:pPr algn="ctr"/>
            <a:r>
              <a:rPr lang="en-US" altLang="ja-JP" sz="2800" dirty="0" smtClean="0">
                <a:solidFill>
                  <a:schemeClr val="tx2"/>
                </a:solidFill>
              </a:rPr>
              <a:t>CQC QUEUE</a:t>
            </a:r>
            <a:endParaRPr kumimoji="1" lang="ja-JP" altLang="en-US" sz="2800" dirty="0">
              <a:solidFill>
                <a:schemeClr val="tx2"/>
              </a:solidFill>
            </a:endParaRPr>
          </a:p>
        </p:txBody>
      </p:sp>
      <p:cxnSp>
        <p:nvCxnSpPr>
          <p:cNvPr id="87" name="直線矢印コネクタ 86"/>
          <p:cNvCxnSpPr/>
          <p:nvPr/>
        </p:nvCxnSpPr>
        <p:spPr>
          <a:xfrm flipV="1">
            <a:off x="2771800" y="764704"/>
            <a:ext cx="1512168" cy="504056"/>
          </a:xfrm>
          <a:prstGeom prst="straightConnector1">
            <a:avLst/>
          </a:prstGeom>
          <a:ln w="7620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87"/>
          <p:cNvCxnSpPr/>
          <p:nvPr/>
        </p:nvCxnSpPr>
        <p:spPr>
          <a:xfrm>
            <a:off x="6012160" y="620688"/>
            <a:ext cx="720080" cy="0"/>
          </a:xfrm>
          <a:prstGeom prst="straightConnector1">
            <a:avLst/>
          </a:prstGeom>
          <a:ln w="7620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U ターン矢印 89"/>
          <p:cNvSpPr/>
          <p:nvPr/>
        </p:nvSpPr>
        <p:spPr>
          <a:xfrm rot="1531530" flipH="1">
            <a:off x="5974676" y="621851"/>
            <a:ext cx="337423" cy="2576147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98257"/>
            </a:avLst>
          </a:prstGeom>
          <a:solidFill>
            <a:srgbClr val="FF0080"/>
          </a:solidFill>
          <a:ln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2" name="円柱 91"/>
          <p:cNvSpPr/>
          <p:nvPr/>
        </p:nvSpPr>
        <p:spPr>
          <a:xfrm>
            <a:off x="3635896" y="1052736"/>
            <a:ext cx="720080" cy="576064"/>
          </a:xfrm>
          <a:prstGeom prst="can">
            <a:avLst/>
          </a:prstGeom>
          <a:solidFill>
            <a:srgbClr val="FF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2"/>
                </a:solidFill>
              </a:rPr>
              <a:t>Site</a:t>
            </a:r>
          </a:p>
          <a:p>
            <a:pPr algn="ctr"/>
            <a:r>
              <a:rPr lang="en-US" altLang="ja-JP" sz="1200" dirty="0" smtClean="0">
                <a:solidFill>
                  <a:schemeClr val="tx2"/>
                </a:solidFill>
              </a:rPr>
              <a:t>Settings</a:t>
            </a:r>
            <a:endParaRPr kumimoji="1"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93" name="テキスト ボックス 92"/>
          <p:cNvSpPr txBox="1"/>
          <p:nvPr/>
        </p:nvSpPr>
        <p:spPr>
          <a:xfrm>
            <a:off x="4334630" y="1022461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smtClean="0"/>
              <a:t>ID API     </a:t>
            </a:r>
            <a:r>
              <a:rPr lang="en-US" altLang="ja-JP" sz="1200" dirty="0" smtClean="0"/>
              <a:t>SITE</a:t>
            </a:r>
            <a:br>
              <a:rPr lang="en-US" altLang="ja-JP" sz="1200" dirty="0" smtClean="0"/>
            </a:br>
            <a:r>
              <a:rPr lang="en-US" altLang="ja-JP" sz="1200" dirty="0" smtClean="0"/>
              <a:t>1</a:t>
            </a:r>
            <a:r>
              <a:rPr lang="en-US" altLang="ja-JP" sz="1200" dirty="0"/>
              <a:t> </a:t>
            </a:r>
            <a:r>
              <a:rPr lang="en-US" altLang="ja-JP" sz="1200" dirty="0" smtClean="0"/>
              <a:t>31415</a:t>
            </a:r>
            <a:r>
              <a:rPr lang="en-US" altLang="ja-JP" sz="1200" dirty="0"/>
              <a:t> </a:t>
            </a:r>
            <a:r>
              <a:rPr kumimoji="1" lang="en-US" altLang="ja-JP" sz="1200" dirty="0" err="1" smtClean="0"/>
              <a:t>sns.op</a:t>
            </a:r>
            <a:r>
              <a:rPr lang="en-US" altLang="ja-JP" sz="1200" dirty="0" err="1" smtClean="0"/>
              <a:t>enpne.jp</a:t>
            </a:r>
            <a:endParaRPr lang="en-US" altLang="ja-JP" sz="1200" dirty="0" smtClean="0"/>
          </a:p>
          <a:p>
            <a:r>
              <a:rPr lang="en-US" altLang="ja-JP" sz="1200" dirty="0" smtClean="0"/>
              <a:t>2 65358 </a:t>
            </a:r>
            <a:r>
              <a:rPr lang="en-US" altLang="ja-JP" sz="1200" dirty="0" err="1" smtClean="0"/>
              <a:t>op.jp</a:t>
            </a:r>
            <a:endParaRPr lang="en-US" altLang="ja-JP" sz="1200" dirty="0"/>
          </a:p>
        </p:txBody>
      </p:sp>
      <p:sp>
        <p:nvSpPr>
          <p:cNvPr id="94" name="正方形/長方形 93"/>
          <p:cNvSpPr/>
          <p:nvPr/>
        </p:nvSpPr>
        <p:spPr>
          <a:xfrm>
            <a:off x="7956376" y="5019000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PUSH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sp>
        <p:nvSpPr>
          <p:cNvPr id="98" name="正方形/長方形 97"/>
          <p:cNvSpPr/>
          <p:nvPr/>
        </p:nvSpPr>
        <p:spPr>
          <a:xfrm>
            <a:off x="6471208" y="5019000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BOX CAR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cxnSp>
        <p:nvCxnSpPr>
          <p:cNvPr id="99" name="直線矢印コネクタ 98"/>
          <p:cNvCxnSpPr/>
          <p:nvPr/>
        </p:nvCxnSpPr>
        <p:spPr>
          <a:xfrm>
            <a:off x="7452320" y="5163016"/>
            <a:ext cx="624946" cy="15993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/>
          <p:cNvCxnSpPr/>
          <p:nvPr/>
        </p:nvCxnSpPr>
        <p:spPr>
          <a:xfrm>
            <a:off x="5895144" y="5173677"/>
            <a:ext cx="624946" cy="15993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正方形/長方形 99"/>
          <p:cNvSpPr/>
          <p:nvPr/>
        </p:nvSpPr>
        <p:spPr>
          <a:xfrm>
            <a:off x="6471208" y="4077072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err="1" smtClean="0">
                <a:solidFill>
                  <a:schemeClr val="tx2"/>
                </a:solidFill>
              </a:rPr>
              <a:t>Clickatell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cxnSp>
        <p:nvCxnSpPr>
          <p:cNvPr id="81" name="直線矢印コネクタ 80"/>
          <p:cNvCxnSpPr/>
          <p:nvPr/>
        </p:nvCxnSpPr>
        <p:spPr>
          <a:xfrm>
            <a:off x="5895144" y="4237573"/>
            <a:ext cx="624946" cy="15993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/>
          <p:cNvCxnSpPr/>
          <p:nvPr/>
        </p:nvCxnSpPr>
        <p:spPr>
          <a:xfrm>
            <a:off x="7452320" y="4196898"/>
            <a:ext cx="624946" cy="15993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正方形/長方形 105"/>
          <p:cNvSpPr/>
          <p:nvPr/>
        </p:nvSpPr>
        <p:spPr>
          <a:xfrm>
            <a:off x="6516216" y="3189348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 err="1" smtClean="0">
                <a:solidFill>
                  <a:schemeClr val="tx2"/>
                </a:solidFill>
              </a:rPr>
              <a:t>opIDCall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cxnSp>
        <p:nvCxnSpPr>
          <p:cNvPr id="79" name="直線矢印コネクタ 78"/>
          <p:cNvCxnSpPr/>
          <p:nvPr/>
        </p:nvCxnSpPr>
        <p:spPr>
          <a:xfrm>
            <a:off x="5967152" y="3325659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/>
          <p:cNvCxnSpPr/>
          <p:nvPr/>
        </p:nvCxnSpPr>
        <p:spPr>
          <a:xfrm>
            <a:off x="7475446" y="3356992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正方形/長方形 107"/>
          <p:cNvSpPr/>
          <p:nvPr/>
        </p:nvSpPr>
        <p:spPr>
          <a:xfrm>
            <a:off x="6516216" y="2666926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 smtClean="0">
                <a:solidFill>
                  <a:schemeClr val="tx2"/>
                </a:solidFill>
              </a:rPr>
              <a:t>synapse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cxnSp>
        <p:nvCxnSpPr>
          <p:cNvPr id="109" name="直線矢印コネクタ 108"/>
          <p:cNvCxnSpPr/>
          <p:nvPr/>
        </p:nvCxnSpPr>
        <p:spPr>
          <a:xfrm>
            <a:off x="5967152" y="2803237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線矢印コネクタ 109"/>
          <p:cNvCxnSpPr/>
          <p:nvPr/>
        </p:nvCxnSpPr>
        <p:spPr>
          <a:xfrm>
            <a:off x="7475446" y="2834570"/>
            <a:ext cx="624946" cy="15993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5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36"/>
          <a:stretch>
            <a:fillRect/>
          </a:stretch>
        </p:blipFill>
        <p:spPr bwMode="auto">
          <a:xfrm>
            <a:off x="6516216" y="6021288"/>
            <a:ext cx="383166" cy="544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A5002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58" name="直線矢印コネクタ 57"/>
          <p:cNvCxnSpPr/>
          <p:nvPr/>
        </p:nvCxnSpPr>
        <p:spPr>
          <a:xfrm flipH="1">
            <a:off x="5891270" y="6381328"/>
            <a:ext cx="792088" cy="0"/>
          </a:xfrm>
          <a:prstGeom prst="straightConnector1">
            <a:avLst/>
          </a:prstGeom>
          <a:ln w="57150" cmpd="sng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6876256" y="6063679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Site Owner</a:t>
            </a:r>
            <a:endParaRPr kumimoji="1" lang="ja-JP" altLang="en-US" sz="2400" dirty="0"/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2267744" y="6063679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User</a:t>
            </a:r>
            <a:endParaRPr kumimoji="1" lang="ja-JP" altLang="en-US" sz="2400" dirty="0"/>
          </a:p>
        </p:txBody>
      </p:sp>
      <p:sp>
        <p:nvSpPr>
          <p:cNvPr id="66" name="正方形/長方形 65"/>
          <p:cNvSpPr/>
          <p:nvPr/>
        </p:nvSpPr>
        <p:spPr>
          <a:xfrm>
            <a:off x="7956376" y="4562762"/>
            <a:ext cx="1080120" cy="3300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800" dirty="0">
                <a:solidFill>
                  <a:schemeClr val="tx2"/>
                </a:solidFill>
              </a:rPr>
              <a:t>M</a:t>
            </a:r>
            <a:r>
              <a:rPr lang="en-US" altLang="ja-JP" sz="1800" dirty="0" smtClean="0">
                <a:solidFill>
                  <a:schemeClr val="tx2"/>
                </a:solidFill>
              </a:rPr>
              <a:t>MS</a:t>
            </a:r>
            <a:endParaRPr kumimoji="1" lang="en-US" altLang="ja-JP" sz="1800" dirty="0" smtClean="0">
              <a:solidFill>
                <a:schemeClr val="tx2"/>
              </a:solidFill>
            </a:endParaRPr>
          </a:p>
        </p:txBody>
      </p:sp>
      <p:cxnSp>
        <p:nvCxnSpPr>
          <p:cNvPr id="71" name="直線矢印コネクタ 70"/>
          <p:cNvCxnSpPr/>
          <p:nvPr/>
        </p:nvCxnSpPr>
        <p:spPr>
          <a:xfrm>
            <a:off x="5940152" y="4772962"/>
            <a:ext cx="2160240" cy="0"/>
          </a:xfrm>
          <a:prstGeom prst="straightConnector1">
            <a:avLst/>
          </a:prstGeom>
          <a:ln w="57150" cmpd="sng">
            <a:solidFill>
              <a:srgbClr val="FF0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0755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57200" y="773832"/>
            <a:ext cx="8229600" cy="1143000"/>
          </a:xfrm>
        </p:spPr>
        <p:txBody>
          <a:bodyPr/>
          <a:lstStyle/>
          <a:p>
            <a:r>
              <a:rPr kumimoji="1" lang="ja-JP" altLang="en-US" dirty="0" smtClean="0"/>
              <a:t>ありがとうございました</a:t>
            </a:r>
            <a:r>
              <a:rPr lang="ja-JP" altLang="en-US" dirty="0"/>
              <a:t/>
            </a:r>
            <a:br>
              <a:rPr lang="ja-JP" altLang="en-US" dirty="0"/>
            </a:br>
            <a:r>
              <a:rPr lang="en-US" altLang="ja-JP" sz="6600" dirty="0" smtClean="0"/>
              <a:t>[2k] =&gt; </a:t>
            </a:r>
            <a:r>
              <a:rPr lang="en-US" altLang="ja-JP" sz="6600" dirty="0" err="1" smtClean="0"/>
              <a:t>tejima</a:t>
            </a:r>
            <a:endParaRPr kumimoji="1" lang="ja-JP" altLang="en-US" sz="8800" dirty="0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46DB0-816C-7249-95A2-AE7D8C8A7F5E}" type="slidenum">
              <a:rPr lang="en-US" altLang="ja-JP" smtClean="0"/>
              <a:pPr>
                <a:defRPr/>
              </a:pPr>
              <a:t>15</a:t>
            </a:fld>
            <a:endParaRPr lang="en-US" altLang="ja-JP"/>
          </a:p>
        </p:txBody>
      </p:sp>
      <p:pic>
        <p:nvPicPr>
          <p:cNvPr id="4" name="図 3" descr="手嶋屋ロゴ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636912"/>
            <a:ext cx="63500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571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テキスト ボックス 41"/>
          <p:cNvSpPr txBox="1"/>
          <p:nvPr/>
        </p:nvSpPr>
        <p:spPr>
          <a:xfrm>
            <a:off x="5004048" y="760636"/>
            <a:ext cx="4018795" cy="2308324"/>
          </a:xfrm>
          <a:prstGeom prst="rect">
            <a:avLst/>
          </a:prstGeom>
          <a:noFill/>
          <a:ln w="38100" cmpd="sng"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800" dirty="0" smtClean="0">
                <a:solidFill>
                  <a:schemeClr val="tx1"/>
                </a:solidFill>
              </a:rPr>
              <a:t>CQC QUEUE FORMAT </a:t>
            </a:r>
          </a:p>
          <a:p>
            <a:r>
              <a:rPr lang="en-US" altLang="ja-JP" sz="1800" dirty="0" smtClean="0"/>
              <a:t>JSON</a:t>
            </a:r>
          </a:p>
          <a:p>
            <a:r>
              <a:rPr lang="en-US" altLang="ja-JP" sz="1800" dirty="0" smtClean="0"/>
              <a:t>{</a:t>
            </a:r>
          </a:p>
          <a:p>
            <a:r>
              <a:rPr lang="en-US" altLang="ja-JP" sz="1800" dirty="0" smtClean="0"/>
              <a:t>    “FROM": “</a:t>
            </a:r>
            <a:r>
              <a:rPr lang="en-US" altLang="ja-JP" sz="1800" dirty="0" err="1" smtClean="0"/>
              <a:t>mamoru@tejimaya.com</a:t>
            </a:r>
            <a:r>
              <a:rPr lang="en-US" altLang="ja-JP" sz="1800" dirty="0" smtClean="0"/>
              <a:t>",</a:t>
            </a:r>
          </a:p>
          <a:p>
            <a:r>
              <a:rPr lang="en-US" altLang="ja-JP" sz="1800" dirty="0" smtClean="0"/>
              <a:t>    ”PRI": "3",</a:t>
            </a:r>
          </a:p>
          <a:p>
            <a:r>
              <a:rPr lang="en-US" altLang="ja-JP" sz="1800" dirty="0"/>
              <a:t> </a:t>
            </a:r>
            <a:r>
              <a:rPr lang="en-US" altLang="ja-JP" sz="1800" dirty="0" smtClean="0"/>
              <a:t>   “TO”:”</a:t>
            </a:r>
            <a:r>
              <a:rPr lang="en-US" altLang="ja-JP" sz="1800" dirty="0" err="1" smtClean="0"/>
              <a:t>tejima@tejimaya.com</a:t>
            </a:r>
            <a:r>
              <a:rPr lang="en-US" altLang="ja-JP" sz="1800" dirty="0" smtClean="0"/>
              <a:t>”</a:t>
            </a:r>
          </a:p>
          <a:p>
            <a:r>
              <a:rPr lang="en-US" altLang="ja-JP" sz="1800" dirty="0" smtClean="0"/>
              <a:t>    ”M": “@</a:t>
            </a:r>
            <a:r>
              <a:rPr lang="en-US" altLang="ja-JP" sz="1800" dirty="0" err="1" smtClean="0"/>
              <a:t>tejima</a:t>
            </a:r>
            <a:r>
              <a:rPr lang="en-US" altLang="ja-JP" sz="1800" dirty="0" smtClean="0"/>
              <a:t> </a:t>
            </a:r>
            <a:r>
              <a:rPr lang="en-US" altLang="ja-JP" sz="1800" dirty="0" err="1" smtClean="0"/>
              <a:t>aaaaaaaaaaa</a:t>
            </a:r>
            <a:r>
              <a:rPr lang="en-US" altLang="ja-JP" sz="1800" dirty="0" smtClean="0"/>
              <a:t>"</a:t>
            </a:r>
          </a:p>
          <a:p>
            <a:r>
              <a:rPr lang="en-US" altLang="ja-JP" sz="1800" dirty="0" smtClean="0"/>
              <a:t>}</a:t>
            </a: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107504" y="760636"/>
            <a:ext cx="4760286" cy="2308324"/>
          </a:xfrm>
          <a:prstGeom prst="rect">
            <a:avLst/>
          </a:prstGeom>
          <a:noFill/>
          <a:ln w="38100" cmpd="sng"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r>
              <a:rPr lang="x-none" altLang="ja-JP" sz="1800" dirty="0" smtClean="0">
                <a:solidFill>
                  <a:srgbClr val="F64600"/>
                </a:solidFill>
              </a:rPr>
              <a:t>API FORMAT</a:t>
            </a:r>
          </a:p>
          <a:p>
            <a:r>
              <a:rPr lang="en-US" altLang="ja-JP" sz="1800" dirty="0" smtClean="0"/>
              <a:t>CQC_API_KEY  FROM    MSG               TYPE</a:t>
            </a:r>
          </a:p>
          <a:p>
            <a:r>
              <a:rPr lang="en-US" altLang="ja-JP" sz="1800" dirty="0" smtClean="0"/>
              <a:t>31415926      </a:t>
            </a:r>
            <a:r>
              <a:rPr lang="en-US" altLang="ja-JP" sz="1800" dirty="0" err="1" smtClean="0"/>
              <a:t>tejima</a:t>
            </a:r>
            <a:r>
              <a:rPr lang="en-US" altLang="ja-JP" sz="1800" dirty="0" smtClean="0"/>
              <a:t>    “@@</a:t>
            </a:r>
            <a:r>
              <a:rPr lang="en-US" altLang="ja-JP" sz="1800" dirty="0" err="1" smtClean="0"/>
              <a:t>mamoru</a:t>
            </a:r>
            <a:r>
              <a:rPr lang="en-US" altLang="ja-JP" sz="1800" dirty="0" smtClean="0"/>
              <a:t> </a:t>
            </a:r>
            <a:r>
              <a:rPr lang="ja-JP" altLang="en-US" sz="1800" dirty="0" smtClean="0"/>
              <a:t>よろ</a:t>
            </a:r>
            <a:r>
              <a:rPr lang="en-US" altLang="ja-JP" sz="1800" dirty="0" smtClean="0"/>
              <a:t>”  D</a:t>
            </a:r>
          </a:p>
          <a:p>
            <a:r>
              <a:rPr lang="en-US" altLang="ja-JP" sz="1800" dirty="0" smtClean="0"/>
              <a:t>31415926      </a:t>
            </a:r>
            <a:r>
              <a:rPr lang="en-US" altLang="ja-JP" sz="1800" dirty="0" err="1" smtClean="0"/>
              <a:t>tejima</a:t>
            </a:r>
            <a:r>
              <a:rPr lang="en-US" altLang="ja-JP" sz="1800" dirty="0" smtClean="0"/>
              <a:t>    “@</a:t>
            </a:r>
            <a:r>
              <a:rPr lang="en-US" altLang="ja-JP" sz="1800" dirty="0" err="1" smtClean="0"/>
              <a:t>tejima</a:t>
            </a:r>
            <a:r>
              <a:rPr lang="en-US" altLang="ja-JP" sz="1800" dirty="0" smtClean="0"/>
              <a:t> </a:t>
            </a:r>
            <a:r>
              <a:rPr lang="ja-JP" altLang="en-US" sz="1800" dirty="0" smtClean="0"/>
              <a:t>よろ</a:t>
            </a:r>
            <a:r>
              <a:rPr lang="en-US" altLang="ja-JP" sz="1800" dirty="0" smtClean="0"/>
              <a:t>”       A</a:t>
            </a:r>
          </a:p>
          <a:p>
            <a:r>
              <a:rPr lang="en-US" altLang="ja-JP" sz="1800" dirty="0" smtClean="0"/>
              <a:t>31415926      </a:t>
            </a:r>
            <a:r>
              <a:rPr lang="en-US" altLang="ja-JP" sz="1800" dirty="0" err="1" smtClean="0"/>
              <a:t>tejima</a:t>
            </a:r>
            <a:r>
              <a:rPr lang="en-US" altLang="ja-JP" sz="1800" dirty="0" smtClean="0"/>
              <a:t>    “@</a:t>
            </a:r>
            <a:r>
              <a:rPr lang="en-US" altLang="ja-JP" sz="1800" dirty="0" err="1" smtClean="0"/>
              <a:t>teji@op.jp</a:t>
            </a:r>
            <a:r>
              <a:rPr lang="en-US" altLang="ja-JP" sz="1800" dirty="0" smtClean="0"/>
              <a:t> </a:t>
            </a:r>
            <a:r>
              <a:rPr lang="ja-JP" altLang="en-US" sz="1800" dirty="0" smtClean="0"/>
              <a:t>よろ</a:t>
            </a:r>
            <a:r>
              <a:rPr lang="en-US" altLang="ja-JP" sz="1800" dirty="0" smtClean="0"/>
              <a:t>”  T</a:t>
            </a:r>
          </a:p>
          <a:p>
            <a:endParaRPr lang="en-US" altLang="ja-JP" sz="1800" dirty="0" smtClean="0"/>
          </a:p>
          <a:p>
            <a:endParaRPr lang="en-US" altLang="ja-JP" sz="1800" dirty="0"/>
          </a:p>
          <a:p>
            <a:endParaRPr lang="en-US" altLang="ja-JP" sz="1800" dirty="0" smtClean="0"/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107504" y="3573016"/>
            <a:ext cx="5688632" cy="2862323"/>
          </a:xfrm>
          <a:prstGeom prst="rect">
            <a:avLst/>
          </a:prstGeom>
          <a:noFill/>
          <a:ln w="38100" cmpd="sng"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r>
              <a:rPr lang="x-none" altLang="ja-JP" sz="1800" dirty="0" smtClean="0">
                <a:solidFill>
                  <a:srgbClr val="F64600"/>
                </a:solidFill>
              </a:rPr>
              <a:t>USER </a:t>
            </a:r>
            <a:r>
              <a:rPr lang="en-US" altLang="ja-JP" sz="1800" dirty="0" smtClean="0">
                <a:solidFill>
                  <a:srgbClr val="F64600"/>
                </a:solidFill>
              </a:rPr>
              <a:t>PRIORITY SETTING</a:t>
            </a:r>
            <a:endParaRPr lang="x-none" altLang="ja-JP" sz="1800" dirty="0" smtClean="0">
              <a:solidFill>
                <a:srgbClr val="F64600"/>
              </a:solidFill>
            </a:endParaRPr>
          </a:p>
          <a:p>
            <a:r>
              <a:rPr lang="en-US" altLang="ja-JP" sz="1800" dirty="0" smtClean="0"/>
              <a:t>MEMBER_ID  KEY  VALUE</a:t>
            </a:r>
          </a:p>
          <a:p>
            <a:r>
              <a:rPr lang="hr-HR" altLang="ja-JP" sz="1800" dirty="0" smtClean="0"/>
              <a:t>CQC_PRIORITY</a:t>
            </a:r>
          </a:p>
          <a:p>
            <a:r>
              <a:rPr lang="hr-HR" altLang="ja-JP" sz="1800" dirty="0"/>
              <a:t> </a:t>
            </a:r>
            <a:r>
              <a:rPr lang="hr-HR" altLang="ja-JP" sz="1800" dirty="0" smtClean="0"/>
              <a:t>“P1”=</a:t>
            </a:r>
            <a:r>
              <a:rPr lang="hr-HR" altLang="ja-JP" sz="1800" dirty="0"/>
              <a:t>&gt;{"RING":"08040600334</a:t>
            </a:r>
            <a:r>
              <a:rPr lang="hr-HR" altLang="ja-JP" sz="1800" dirty="0" smtClean="0"/>
              <a:t>”</a:t>
            </a:r>
          </a:p>
          <a:p>
            <a:r>
              <a:rPr lang="hr-HR" altLang="ja-JP" sz="1800" dirty="0"/>
              <a:t> </a:t>
            </a:r>
            <a:r>
              <a:rPr lang="hr-HR" altLang="ja-JP" sz="1800" dirty="0" smtClean="0"/>
              <a:t>“P2”=</a:t>
            </a:r>
            <a:r>
              <a:rPr lang="hr-HR" altLang="ja-JP" sz="1800" dirty="0"/>
              <a:t>&gt;{"SMS"</a:t>
            </a:r>
            <a:r>
              <a:rPr lang="hr-HR" altLang="ja-JP" sz="1800" dirty="0" smtClean="0"/>
              <a:t>:”0804034</a:t>
            </a:r>
            <a:r>
              <a:rPr lang="hr-HR" altLang="ja-JP" sz="1800" dirty="0"/>
              <a:t>","PUSH":"</a:t>
            </a:r>
            <a:r>
              <a:rPr lang="hr-HR" altLang="ja-JP" sz="1800" dirty="0" smtClean="0"/>
              <a:t>1d47</a:t>
            </a:r>
            <a:r>
              <a:rPr lang="hr-HR" altLang="ja-JP" sz="1800" dirty="0"/>
              <a:t>@</a:t>
            </a:r>
            <a:r>
              <a:rPr lang="hr-HR" altLang="ja-JP" sz="1800" dirty="0" smtClean="0"/>
              <a:t>pus.com</a:t>
            </a:r>
            <a:r>
              <a:rPr lang="hr-HR" altLang="ja-JP" sz="1800" dirty="0"/>
              <a:t>”} </a:t>
            </a:r>
          </a:p>
          <a:p>
            <a:r>
              <a:rPr lang="hr-HR" altLang="ja-JP" sz="1800" dirty="0"/>
              <a:t> </a:t>
            </a:r>
            <a:r>
              <a:rPr lang="hr-HR" altLang="ja-JP" sz="1800" dirty="0" smtClean="0"/>
              <a:t>“P3”=</a:t>
            </a:r>
            <a:r>
              <a:rPr lang="hr-HR" altLang="ja-JP" sz="1800" dirty="0"/>
              <a:t>&gt;{"P_MAIL"</a:t>
            </a:r>
            <a:r>
              <a:rPr lang="hr-HR" altLang="ja-JP" sz="1800" dirty="0" smtClean="0"/>
              <a:t>:”m.0422</a:t>
            </a:r>
            <a:r>
              <a:rPr lang="hr-HR" altLang="ja-JP" sz="1800" dirty="0"/>
              <a:t>@softbank.ne.jp"}</a:t>
            </a:r>
          </a:p>
          <a:p>
            <a:endParaRPr lang="hr-HR" altLang="ja-JP" sz="1800" dirty="0"/>
          </a:p>
          <a:p>
            <a:endParaRPr lang="hr-HR" altLang="ja-JP" sz="1800" dirty="0"/>
          </a:p>
          <a:p>
            <a:endParaRPr lang="hr-HR" altLang="ja-JP" sz="1800" dirty="0"/>
          </a:p>
          <a:p>
            <a:endParaRPr lang="en-US" altLang="ja-JP" sz="1800" dirty="0" smtClean="0"/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5940152" y="3573016"/>
            <a:ext cx="3168352" cy="2862323"/>
          </a:xfrm>
          <a:prstGeom prst="rect">
            <a:avLst/>
          </a:prstGeom>
          <a:noFill/>
          <a:ln w="38100" cmpd="sng">
            <a:solidFill>
              <a:srgbClr val="4F81BD"/>
            </a:solidFill>
          </a:ln>
        </p:spPr>
        <p:txBody>
          <a:bodyPr wrap="square" rtlCol="0">
            <a:spAutoFit/>
          </a:bodyPr>
          <a:lstStyle/>
          <a:p>
            <a:r>
              <a:rPr lang="x-none" altLang="ja-JP" sz="1800" dirty="0" smtClean="0">
                <a:solidFill>
                  <a:srgbClr val="F64600"/>
                </a:solidFill>
              </a:rPr>
              <a:t>SITEOWNER SETTING</a:t>
            </a:r>
          </a:p>
          <a:p>
            <a:r>
              <a:rPr lang="en-US" altLang="ja-JP" sz="1800" dirty="0" smtClean="0"/>
              <a:t>CQC_API_KEY  SITE         </a:t>
            </a:r>
          </a:p>
          <a:p>
            <a:r>
              <a:rPr lang="en-US" altLang="ja-JP" sz="1800" dirty="0" smtClean="0"/>
              <a:t>31415926 </a:t>
            </a:r>
            <a:r>
              <a:rPr lang="en-US" altLang="ja-JP" sz="1800" dirty="0" err="1"/>
              <a:t>sns.openpne.jp</a:t>
            </a:r>
            <a:endParaRPr lang="en-US" altLang="ja-JP" sz="1800" dirty="0"/>
          </a:p>
          <a:p>
            <a:r>
              <a:rPr lang="en-US" altLang="ja-JP" sz="1800" dirty="0" smtClean="0"/>
              <a:t>415932    </a:t>
            </a:r>
            <a:r>
              <a:rPr lang="en-US" altLang="ja-JP" sz="1800" dirty="0" err="1" smtClean="0"/>
              <a:t>sns.pne.jp</a:t>
            </a:r>
            <a:endParaRPr lang="en-US" altLang="ja-JP" sz="1800" dirty="0"/>
          </a:p>
          <a:p>
            <a:r>
              <a:rPr lang="en-US" altLang="ja-JP" sz="1800" dirty="0" smtClean="0"/>
              <a:t>897932    </a:t>
            </a:r>
            <a:r>
              <a:rPr lang="en-US" altLang="ja-JP" sz="1800" dirty="0" err="1" smtClean="0"/>
              <a:t>inner.teji.com</a:t>
            </a:r>
            <a:endParaRPr lang="en-US" altLang="ja-JP" sz="1800" dirty="0"/>
          </a:p>
          <a:p>
            <a:r>
              <a:rPr lang="en-US" altLang="ja-JP" sz="1800" dirty="0" smtClean="0"/>
              <a:t>31415926 </a:t>
            </a:r>
            <a:r>
              <a:rPr lang="en-US" altLang="ja-JP" sz="1800" dirty="0" err="1"/>
              <a:t>sns.openpne.jp</a:t>
            </a:r>
            <a:endParaRPr lang="en-US" altLang="ja-JP" sz="1800" dirty="0"/>
          </a:p>
          <a:p>
            <a:endParaRPr lang="en-US" altLang="ja-JP" sz="1800" dirty="0" smtClean="0"/>
          </a:p>
          <a:p>
            <a:endParaRPr lang="en-US" altLang="ja-JP" sz="1800" dirty="0"/>
          </a:p>
          <a:p>
            <a:endParaRPr lang="en-US" altLang="ja-JP" sz="1800" dirty="0" smtClean="0"/>
          </a:p>
          <a:p>
            <a:endParaRPr lang="en-US" altLang="ja-JP" sz="1800" dirty="0" smtClean="0"/>
          </a:p>
        </p:txBody>
      </p:sp>
    </p:spTree>
    <p:extLst>
      <p:ext uri="{BB962C8B-B14F-4D97-AF65-F5344CB8AC3E}">
        <p14:creationId xmlns:p14="http://schemas.microsoft.com/office/powerpoint/2010/main" val="15292102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黒">
  <a:themeElements>
    <a:clrScheme name="CQC_PROJECTOR 2">
      <a:dk1>
        <a:srgbClr val="000000"/>
      </a:dk1>
      <a:lt1>
        <a:srgbClr val="F64600"/>
      </a:lt1>
      <a:dk2>
        <a:srgbClr val="FFFFFF"/>
      </a:dk2>
      <a:lt2>
        <a:srgbClr val="FFFFFF"/>
      </a:lt2>
      <a:accent1>
        <a:srgbClr val="4776D3"/>
      </a:accent1>
      <a:accent2>
        <a:srgbClr val="48B6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ホワイ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ホワイ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ブラック .thmx</Template>
  <TotalTime>4942</TotalTime>
  <Words>382</Words>
  <Application>Microsoft Macintosh PowerPoint</Application>
  <PresentationFormat>画面に合わせる (4:3)</PresentationFormat>
  <Paragraphs>135</Paragraphs>
  <Slides>16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7" baseType="lpstr">
      <vt:lpstr>黒</vt:lpstr>
      <vt:lpstr>いろいろ通知サービス @tejima　</vt:lpstr>
      <vt:lpstr>サービスの目的</vt:lpstr>
      <vt:lpstr>利用イメージ</vt:lpstr>
      <vt:lpstr>設定画面</vt:lpstr>
      <vt:lpstr>PowerPoint プレゼンテーション</vt:lpstr>
      <vt:lpstr>OpenPNE3.6.0</vt:lpstr>
      <vt:lpstr>サイトの構造</vt:lpstr>
      <vt:lpstr>opCQCPlugin</vt:lpstr>
      <vt:lpstr>SMS</vt:lpstr>
      <vt:lpstr>Amazon SQS</vt:lpstr>
      <vt:lpstr>PUSH （iOS）</vt:lpstr>
      <vt:lpstr>Phone Call</vt:lpstr>
      <vt:lpstr>DEMO</vt:lpstr>
      <vt:lpstr>PowerPoint プレゼンテーション</vt:lpstr>
      <vt:lpstr>ありがとうございました [2k] =&gt; tejima</vt:lpstr>
      <vt:lpstr>PowerPoint プレゼンテーション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OpenPNEがあれば （Officeはいるけど） オフィスはいらない</dc:title>
  <dc:creator>tejima</dc:creator>
  <cp:lastModifiedBy>手嶋 守</cp:lastModifiedBy>
  <cp:revision>156</cp:revision>
  <dcterms:created xsi:type="dcterms:W3CDTF">2011-02-25T12:21:45Z</dcterms:created>
  <dcterms:modified xsi:type="dcterms:W3CDTF">2011-10-17T04:58:37Z</dcterms:modified>
</cp:coreProperties>
</file>